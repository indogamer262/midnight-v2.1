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Montserrat Classic Bold" panose="020B0604020202020204" charset="0"/>
      <p:regular r:id="rId23"/>
    </p:embeddedFont>
    <p:embeddedFont>
      <p:font typeface="Roboto Mono Regular Bold" panose="020B0604020202020204" charset="0"/>
      <p:regular r:id="rId24"/>
    </p:embeddedFont>
    <p:embeddedFont>
      <p:font typeface="Calibri" panose="020F050202020403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2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5.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CEBF"/>
        </a:solidFill>
        <a:effectLst/>
      </p:bgPr>
    </p:bg>
    <p:spTree>
      <p:nvGrpSpPr>
        <p:cNvPr id="1" name=""/>
        <p:cNvGrpSpPr/>
        <p:nvPr/>
      </p:nvGrpSpPr>
      <p:grpSpPr>
        <a:xfrm>
          <a:off x="0" y="0"/>
          <a:ext cx="0" cy="0"/>
          <a:chOff x="0" y="0"/>
          <a:chExt cx="0" cy="0"/>
        </a:xfrm>
      </p:grpSpPr>
      <p:sp>
        <p:nvSpPr>
          <p:cNvPr id="2" name="AutoShape 2"/>
          <p:cNvSpPr/>
          <p:nvPr/>
        </p:nvSpPr>
        <p:spPr>
          <a:xfrm rot="-117255">
            <a:off x="1302193" y="667339"/>
            <a:ext cx="16610317" cy="10162269"/>
          </a:xfrm>
          <a:prstGeom prst="rect">
            <a:avLst/>
          </a:prstGeom>
          <a:solidFill>
            <a:srgbClr val="727272"/>
          </a:solidFill>
        </p:spPr>
      </p:sp>
      <p:sp>
        <p:nvSpPr>
          <p:cNvPr id="3" name="AutoShape 3"/>
          <p:cNvSpPr/>
          <p:nvPr/>
        </p:nvSpPr>
        <p:spPr>
          <a:xfrm>
            <a:off x="1302303" y="1028700"/>
            <a:ext cx="16230600" cy="9258300"/>
          </a:xfrm>
          <a:prstGeom prst="rect">
            <a:avLst/>
          </a:prstGeom>
          <a:solidFill>
            <a:srgbClr val="FFFBEC"/>
          </a:solidFill>
        </p:spPr>
      </p:sp>
      <p:sp>
        <p:nvSpPr>
          <p:cNvPr id="4" name="AutoShape 4"/>
          <p:cNvSpPr/>
          <p:nvPr/>
        </p:nvSpPr>
        <p:spPr>
          <a:xfrm>
            <a:off x="1302303" y="8681949"/>
            <a:ext cx="16230600" cy="0"/>
          </a:xfrm>
          <a:prstGeom prst="line">
            <a:avLst/>
          </a:prstGeom>
          <a:ln w="19050" cap="rnd">
            <a:solidFill>
              <a:srgbClr val="000000"/>
            </a:solidFill>
            <a:prstDash val="solid"/>
            <a:headEnd type="none" w="sm" len="sm"/>
            <a:tailEnd type="none" w="sm" len="sm"/>
          </a:ln>
        </p:spPr>
      </p:sp>
      <p:sp>
        <p:nvSpPr>
          <p:cNvPr id="5" name="AutoShape 5"/>
          <p:cNvSpPr/>
          <p:nvPr/>
        </p:nvSpPr>
        <p:spPr>
          <a:xfrm>
            <a:off x="1302303" y="8681949"/>
            <a:ext cx="16230600" cy="0"/>
          </a:xfrm>
          <a:prstGeom prst="line">
            <a:avLst/>
          </a:prstGeom>
          <a:ln w="19050" cap="rnd">
            <a:solidFill>
              <a:srgbClr val="000000"/>
            </a:solidFill>
            <a:prstDash val="solid"/>
            <a:headEnd type="none" w="sm" len="sm"/>
            <a:tailEnd type="none" w="sm" len="sm"/>
          </a:ln>
        </p:spPr>
      </p:sp>
      <p:sp>
        <p:nvSpPr>
          <p:cNvPr id="6" name="AutoShape 6"/>
          <p:cNvSpPr/>
          <p:nvPr/>
        </p:nvSpPr>
        <p:spPr>
          <a:xfrm>
            <a:off x="1302303" y="6349349"/>
            <a:ext cx="16230600" cy="0"/>
          </a:xfrm>
          <a:prstGeom prst="line">
            <a:avLst/>
          </a:prstGeom>
          <a:ln w="19050" cap="rnd">
            <a:solidFill>
              <a:srgbClr val="000000"/>
            </a:solidFill>
            <a:prstDash val="solid"/>
            <a:headEnd type="none" w="sm" len="sm"/>
            <a:tailEnd type="none" w="sm" len="sm"/>
          </a:ln>
        </p:spPr>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763660">
            <a:off x="1385739" y="201357"/>
            <a:ext cx="3041483" cy="2626736"/>
          </a:xfrm>
          <a:prstGeom prst="rect">
            <a:avLst/>
          </a:prstGeom>
        </p:spPr>
      </p:pic>
      <p:grpSp>
        <p:nvGrpSpPr>
          <p:cNvPr id="8" name="Group 8"/>
          <p:cNvGrpSpPr/>
          <p:nvPr/>
        </p:nvGrpSpPr>
        <p:grpSpPr>
          <a:xfrm>
            <a:off x="1302303" y="3382442"/>
            <a:ext cx="16230600" cy="175193"/>
            <a:chOff x="0" y="0"/>
            <a:chExt cx="21640800" cy="233591"/>
          </a:xfrm>
        </p:grpSpPr>
        <p:sp>
          <p:nvSpPr>
            <p:cNvPr id="9" name="AutoShape 9"/>
            <p:cNvSpPr/>
            <p:nvPr/>
          </p:nvSpPr>
          <p:spPr>
            <a:xfrm>
              <a:off x="0" y="0"/>
              <a:ext cx="21640800" cy="0"/>
            </a:xfrm>
            <a:prstGeom prst="line">
              <a:avLst/>
            </a:prstGeom>
            <a:ln w="63500" cap="rnd">
              <a:solidFill>
                <a:srgbClr val="000000"/>
              </a:solidFill>
              <a:prstDash val="solid"/>
              <a:headEnd type="none" w="sm" len="sm"/>
              <a:tailEnd type="none" w="sm" len="sm"/>
            </a:ln>
          </p:spPr>
        </p:sp>
        <p:sp>
          <p:nvSpPr>
            <p:cNvPr id="10" name="AutoShape 10"/>
            <p:cNvSpPr/>
            <p:nvPr/>
          </p:nvSpPr>
          <p:spPr>
            <a:xfrm>
              <a:off x="0" y="208191"/>
              <a:ext cx="21640800" cy="0"/>
            </a:xfrm>
            <a:prstGeom prst="line">
              <a:avLst/>
            </a:prstGeom>
            <a:ln w="25400" cap="rnd">
              <a:solidFill>
                <a:srgbClr val="000000"/>
              </a:solidFill>
              <a:prstDash val="solid"/>
              <a:headEnd type="none" w="sm" len="sm"/>
              <a:tailEnd type="none" w="sm" len="sm"/>
            </a:ln>
          </p:spPr>
        </p:sp>
      </p:grpSp>
      <p:pic>
        <p:nvPicPr>
          <p:cNvPr id="11" name="Picture 11"/>
          <p:cNvPicPr>
            <a:picLocks noChangeAspect="1"/>
          </p:cNvPicPr>
          <p:nvPr/>
        </p:nvPicPr>
        <p:blipFill>
          <a:blip r:embed="rId4"/>
          <a:srcRect/>
          <a:stretch>
            <a:fillRect/>
          </a:stretch>
        </p:blipFill>
        <p:spPr>
          <a:xfrm>
            <a:off x="8125097" y="6368399"/>
            <a:ext cx="2313550" cy="2313550"/>
          </a:xfrm>
          <a:prstGeom prst="rect">
            <a:avLst/>
          </a:prstGeom>
        </p:spPr>
      </p:pic>
      <p:sp>
        <p:nvSpPr>
          <p:cNvPr id="12" name="TextBox 12"/>
          <p:cNvSpPr txBox="1"/>
          <p:nvPr/>
        </p:nvSpPr>
        <p:spPr>
          <a:xfrm>
            <a:off x="2806282" y="3673688"/>
            <a:ext cx="12951179" cy="2686441"/>
          </a:xfrm>
          <a:prstGeom prst="rect">
            <a:avLst/>
          </a:prstGeom>
        </p:spPr>
        <p:txBody>
          <a:bodyPr lIns="0" tIns="0" rIns="0" bIns="0" rtlCol="0" anchor="t">
            <a:spAutoFit/>
          </a:bodyPr>
          <a:lstStyle/>
          <a:p>
            <a:pPr algn="ctr">
              <a:lnSpc>
                <a:spcPts val="10799"/>
              </a:lnSpc>
            </a:pPr>
            <a:r>
              <a:rPr lang="en-US" sz="8999" b="1" dirty="0">
                <a:solidFill>
                  <a:srgbClr val="000000"/>
                </a:solidFill>
                <a:latin typeface="Gagalin Bold"/>
              </a:rPr>
              <a:t>WAWASAN NUSANTARA 1</a:t>
            </a:r>
          </a:p>
        </p:txBody>
      </p:sp>
      <p:sp>
        <p:nvSpPr>
          <p:cNvPr id="13" name="TextBox 13"/>
          <p:cNvSpPr txBox="1"/>
          <p:nvPr/>
        </p:nvSpPr>
        <p:spPr>
          <a:xfrm>
            <a:off x="4789612" y="9297570"/>
            <a:ext cx="9255983" cy="487680"/>
          </a:xfrm>
          <a:prstGeom prst="rect">
            <a:avLst/>
          </a:prstGeom>
        </p:spPr>
        <p:txBody>
          <a:bodyPr lIns="0" tIns="0" rIns="0" bIns="0" rtlCol="0" anchor="t">
            <a:spAutoFit/>
          </a:bodyPr>
          <a:lstStyle/>
          <a:p>
            <a:pPr algn="ctr">
              <a:lnSpc>
                <a:spcPts val="3840"/>
              </a:lnSpc>
            </a:pPr>
            <a:r>
              <a:rPr lang="en-US" sz="3200">
                <a:solidFill>
                  <a:srgbClr val="000000"/>
                </a:solidFill>
                <a:latin typeface="Roboto Mono Regular Bold"/>
              </a:rPr>
              <a:t>Dr. Seriwati Ginting, M.Pd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DF43"/>
        </a:solidFill>
        <a:effectLst/>
      </p:bgPr>
    </p:bg>
    <p:spTree>
      <p:nvGrpSpPr>
        <p:cNvPr id="1" name=""/>
        <p:cNvGrpSpPr/>
        <p:nvPr/>
      </p:nvGrpSpPr>
      <p:grpSpPr>
        <a:xfrm>
          <a:off x="0" y="0"/>
          <a:ext cx="0" cy="0"/>
          <a:chOff x="0" y="0"/>
          <a:chExt cx="0" cy="0"/>
        </a:xfrm>
      </p:grpSpPr>
      <p:sp>
        <p:nvSpPr>
          <p:cNvPr id="2" name="AutoShape 2"/>
          <p:cNvSpPr/>
          <p:nvPr/>
        </p:nvSpPr>
        <p:spPr>
          <a:xfrm>
            <a:off x="1028700" y="1409528"/>
            <a:ext cx="16230600" cy="8877472"/>
          </a:xfrm>
          <a:prstGeom prst="rect">
            <a:avLst/>
          </a:prstGeom>
          <a:solidFill>
            <a:srgbClr val="FFFBEC"/>
          </a:solidFill>
        </p:spPr>
      </p:sp>
      <p:sp>
        <p:nvSpPr>
          <p:cNvPr id="3" name="TextBox 3"/>
          <p:cNvSpPr txBox="1"/>
          <p:nvPr/>
        </p:nvSpPr>
        <p:spPr>
          <a:xfrm>
            <a:off x="2202871" y="2531514"/>
            <a:ext cx="16342411" cy="1564005"/>
          </a:xfrm>
          <a:prstGeom prst="rect">
            <a:avLst/>
          </a:prstGeom>
        </p:spPr>
        <p:txBody>
          <a:bodyPr lIns="0" tIns="0" rIns="0" bIns="0" rtlCol="0" anchor="t">
            <a:spAutoFit/>
          </a:bodyPr>
          <a:lstStyle/>
          <a:p>
            <a:pPr>
              <a:lnSpc>
                <a:spcPts val="6120"/>
              </a:lnSpc>
            </a:pPr>
            <a:r>
              <a:rPr lang="en-US" sz="5100">
                <a:solidFill>
                  <a:srgbClr val="000000"/>
                </a:solidFill>
                <a:latin typeface="Roboto Mono Regular Bold"/>
              </a:rPr>
              <a:t>LATAR BELAKANG WAWASAN NUSANTARA (WASANTARA)</a:t>
            </a:r>
          </a:p>
        </p:txBody>
      </p:sp>
      <p:sp>
        <p:nvSpPr>
          <p:cNvPr id="4" name="AutoShape 4"/>
          <p:cNvSpPr/>
          <p:nvPr/>
        </p:nvSpPr>
        <p:spPr>
          <a:xfrm>
            <a:off x="1028700" y="2263767"/>
            <a:ext cx="16230600" cy="0"/>
          </a:xfrm>
          <a:prstGeom prst="line">
            <a:avLst/>
          </a:prstGeom>
          <a:ln w="47625" cap="rnd">
            <a:solidFill>
              <a:srgbClr val="000000"/>
            </a:solidFill>
            <a:prstDash val="solid"/>
            <a:headEnd type="none" w="sm" len="sm"/>
            <a:tailEnd type="none" w="sm" len="sm"/>
          </a:ln>
        </p:spPr>
      </p:sp>
      <p:sp>
        <p:nvSpPr>
          <p:cNvPr id="5" name="AutoShape 5"/>
          <p:cNvSpPr/>
          <p:nvPr/>
        </p:nvSpPr>
        <p:spPr>
          <a:xfrm>
            <a:off x="1028700" y="4262158"/>
            <a:ext cx="16230600" cy="0"/>
          </a:xfrm>
          <a:prstGeom prst="line">
            <a:avLst/>
          </a:prstGeom>
          <a:ln w="19050" cap="rnd">
            <a:solidFill>
              <a:srgbClr val="000000"/>
            </a:solidFill>
            <a:prstDash val="solid"/>
            <a:headEnd type="none" w="sm" len="sm"/>
            <a:tailEnd type="none" w="sm" len="sm"/>
          </a:ln>
        </p:spPr>
      </p:sp>
      <p:sp>
        <p:nvSpPr>
          <p:cNvPr id="6" name="TextBox 6"/>
          <p:cNvSpPr txBox="1"/>
          <p:nvPr/>
        </p:nvSpPr>
        <p:spPr>
          <a:xfrm>
            <a:off x="1689456" y="5114925"/>
            <a:ext cx="14909089" cy="4143375"/>
          </a:xfrm>
          <a:prstGeom prst="rect">
            <a:avLst/>
          </a:prstGeom>
        </p:spPr>
        <p:txBody>
          <a:bodyPr lIns="0" tIns="0" rIns="0" bIns="0" rtlCol="0" anchor="t">
            <a:spAutoFit/>
          </a:bodyPr>
          <a:lstStyle/>
          <a:p>
            <a:pPr marL="686761" lvl="1" indent="-343381">
              <a:lnSpc>
                <a:spcPts val="4135"/>
              </a:lnSpc>
              <a:buFont typeface="Arial"/>
              <a:buChar char="•"/>
            </a:pPr>
            <a:r>
              <a:rPr lang="en-US" sz="3180" dirty="0" err="1">
                <a:solidFill>
                  <a:srgbClr val="000000"/>
                </a:solidFill>
                <a:latin typeface="Roboto Mono Regular Bold" panose="020B0604020202020204" charset="0"/>
                <a:ea typeface="Roboto Mono Regular Bold" panose="020B0604020202020204" charset="0"/>
              </a:rPr>
              <a:t>Wawasan</a:t>
            </a:r>
            <a:r>
              <a:rPr lang="en-US" sz="3180" dirty="0">
                <a:solidFill>
                  <a:srgbClr val="000000"/>
                </a:solidFill>
                <a:latin typeface="Roboto Mono Regular Bold" panose="020B0604020202020204" charset="0"/>
                <a:ea typeface="Roboto Mono Regular Bold" panose="020B0604020202020204" charset="0"/>
              </a:rPr>
              <a:t> Nusantara (national outlook) </a:t>
            </a:r>
            <a:r>
              <a:rPr lang="en-US" sz="3180" dirty="0" err="1">
                <a:solidFill>
                  <a:srgbClr val="000000"/>
                </a:solidFill>
                <a:latin typeface="Roboto Mono Regular Bold" panose="020B0604020202020204" charset="0"/>
                <a:ea typeface="Roboto Mono Regular Bold" panose="020B0604020202020204" charset="0"/>
              </a:rPr>
              <a:t>merupakan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cara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pandang</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bangsa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terhadap</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diri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dan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lingkungan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tempat</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hidup</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bangsa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bangsa</a:t>
            </a:r>
            <a:r>
              <a:rPr lang="en-US" sz="3180" dirty="0">
                <a:solidFill>
                  <a:srgbClr val="000000"/>
                </a:solidFill>
                <a:latin typeface="Roboto Mono Regular Bold" panose="020B0604020202020204" charset="0"/>
                <a:ea typeface="Roboto Mono Regular Bold" panose="020B0604020202020204" charset="0"/>
              </a:rPr>
              <a:t> yang </a:t>
            </a:r>
            <a:r>
              <a:rPr lang="en-US" sz="3180" dirty="0" err="1">
                <a:solidFill>
                  <a:srgbClr val="000000"/>
                </a:solidFill>
                <a:latin typeface="Roboto Mono Regular Bold" panose="020B0604020202020204" charset="0"/>
                <a:ea typeface="Roboto Mono Regular Bold" panose="020B0604020202020204" charset="0"/>
              </a:rPr>
              <a:t>bersangkutan</a:t>
            </a:r>
            <a:r>
              <a:rPr lang="en-US" sz="3180" dirty="0">
                <a:solidFill>
                  <a:srgbClr val="000000"/>
                </a:solidFill>
                <a:latin typeface="Roboto Mono Regular Bold" panose="020B0604020202020204" charset="0"/>
                <a:ea typeface="Roboto Mono Regular Bold" panose="020B0604020202020204" charset="0"/>
              </a:rPr>
              <a:t>.</a:t>
            </a:r>
          </a:p>
          <a:p>
            <a:pPr>
              <a:lnSpc>
                <a:spcPts val="4135"/>
              </a:lnSpc>
            </a:pPr>
            <a:endParaRPr lang="en-US" sz="3180" dirty="0">
              <a:solidFill>
                <a:srgbClr val="000000"/>
              </a:solidFill>
              <a:latin typeface="Roboto Mono Regular Bold" panose="020B0604020202020204" charset="0"/>
              <a:ea typeface="Roboto Mono Regular Bold" panose="020B0604020202020204" charset="0"/>
            </a:endParaRPr>
          </a:p>
          <a:p>
            <a:pPr marL="686762" lvl="1" indent="-343381">
              <a:lnSpc>
                <a:spcPts val="4135"/>
              </a:lnSpc>
              <a:buFont typeface="Arial"/>
              <a:buChar char="•"/>
            </a:pPr>
            <a:r>
              <a:rPr lang="en-US" sz="3180" dirty="0" err="1">
                <a:solidFill>
                  <a:srgbClr val="000000"/>
                </a:solidFill>
                <a:latin typeface="Roboto Mono Regular Bold" panose="020B0604020202020204" charset="0"/>
                <a:ea typeface="Roboto Mono Regular Bold" panose="020B0604020202020204" charset="0"/>
              </a:rPr>
              <a:t>Bagi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bangsa</a:t>
            </a:r>
            <a:r>
              <a:rPr lang="en-US" sz="3180" dirty="0">
                <a:solidFill>
                  <a:srgbClr val="000000"/>
                </a:solidFill>
                <a:latin typeface="Roboto Mono Regular Bold" panose="020B0604020202020204" charset="0"/>
                <a:ea typeface="Roboto Mono Regular Bold" panose="020B0604020202020204" charset="0"/>
              </a:rPr>
              <a:t> Indonesia </a:t>
            </a:r>
            <a:r>
              <a:rPr lang="en-US" sz="3180" dirty="0" err="1">
                <a:solidFill>
                  <a:srgbClr val="000000"/>
                </a:solidFill>
                <a:latin typeface="Roboto Mono Regular Bold" panose="020B0604020202020204" charset="0"/>
                <a:ea typeface="Roboto Mono Regular Bold" panose="020B0604020202020204" charset="0"/>
              </a:rPr>
              <a:t>wawasan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nusantara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telah</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menjadi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cara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pandang</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sekaligus</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konsepsi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berbangsa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dan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bernegara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menjadi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landasan</a:t>
            </a:r>
            <a:r>
              <a:rPr lang="en-US" sz="3180" dirty="0">
                <a:solidFill>
                  <a:srgbClr val="000000"/>
                </a:solidFill>
                <a:latin typeface="Roboto Mono Regular Bold" panose="020B0604020202020204" charset="0"/>
                <a:ea typeface="Roboto Mono Regular Bold" panose="020B0604020202020204" charset="0"/>
              </a:rPr>
              <a:t> visional. </a:t>
            </a:r>
            <a:r>
              <a:rPr lang="en-US" sz="3180" dirty="0" err="1">
                <a:solidFill>
                  <a:srgbClr val="000000"/>
                </a:solidFill>
                <a:latin typeface="Roboto Mono Regular Bold" panose="020B0604020202020204" charset="0"/>
                <a:ea typeface="Roboto Mono Regular Bold" panose="020B0604020202020204" charset="0"/>
              </a:rPr>
              <a:t>Konsepsi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wawasan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nusantara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dicetuskan</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melalui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deklarasi</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Djuanda</a:t>
            </a:r>
            <a:r>
              <a:rPr lang="en-US" sz="3180" dirty="0">
                <a:solidFill>
                  <a:srgbClr val="000000"/>
                </a:solidFill>
                <a:latin typeface="Roboto Mono Regular Bold" panose="020B0604020202020204" charset="0"/>
                <a:ea typeface="Roboto Mono Regular Bold" panose="020B0604020202020204" charset="0"/>
              </a:rPr>
              <a:t> </a:t>
            </a:r>
            <a:r>
              <a:rPr lang="en-US" sz="3180" dirty="0" err="1">
                <a:solidFill>
                  <a:srgbClr val="000000"/>
                </a:solidFill>
                <a:latin typeface="Roboto Mono Regular Bold" panose="020B0604020202020204" charset="0"/>
                <a:ea typeface="Roboto Mono Regular Bold" panose="020B0604020202020204" charset="0"/>
              </a:rPr>
              <a:t>tahun</a:t>
            </a:r>
            <a:r>
              <a:rPr lang="en-US" sz="3180" dirty="0">
                <a:solidFill>
                  <a:srgbClr val="000000"/>
                </a:solidFill>
                <a:latin typeface="Roboto Mono Regular Bold" panose="020B0604020202020204" charset="0"/>
                <a:ea typeface="Roboto Mono Regular Bold" panose="020B0604020202020204" charset="0"/>
              </a:rPr>
              <a:t> 1957</a:t>
            </a: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411813" y="295288"/>
            <a:ext cx="1677300" cy="1686499"/>
          </a:xfrm>
          <a:prstGeom prst="rect">
            <a:avLst/>
          </a:prstGeom>
        </p:spPr>
      </p:pic>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87900" y="295288"/>
            <a:ext cx="1677300" cy="16864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9D2F"/>
        </a:solidFill>
        <a:effectLst/>
      </p:bgPr>
    </p:bg>
    <p:spTree>
      <p:nvGrpSpPr>
        <p:cNvPr id="1" name=""/>
        <p:cNvGrpSpPr/>
        <p:nvPr/>
      </p:nvGrpSpPr>
      <p:grpSpPr>
        <a:xfrm>
          <a:off x="0" y="0"/>
          <a:ext cx="0" cy="0"/>
          <a:chOff x="0" y="0"/>
          <a:chExt cx="0" cy="0"/>
        </a:xfrm>
      </p:grpSpPr>
      <p:sp>
        <p:nvSpPr>
          <p:cNvPr id="2" name="AutoShape 2"/>
          <p:cNvSpPr/>
          <p:nvPr/>
        </p:nvSpPr>
        <p:spPr>
          <a:xfrm>
            <a:off x="1028700" y="1409528"/>
            <a:ext cx="16230600" cy="8877472"/>
          </a:xfrm>
          <a:prstGeom prst="rect">
            <a:avLst/>
          </a:prstGeom>
          <a:solidFill>
            <a:srgbClr val="FFFBEC"/>
          </a:solidFill>
        </p:spPr>
      </p:sp>
      <p:sp>
        <p:nvSpPr>
          <p:cNvPr id="3" name="TextBox 3"/>
          <p:cNvSpPr txBox="1"/>
          <p:nvPr/>
        </p:nvSpPr>
        <p:spPr>
          <a:xfrm>
            <a:off x="2202871" y="2531514"/>
            <a:ext cx="16342411" cy="1564005"/>
          </a:xfrm>
          <a:prstGeom prst="rect">
            <a:avLst/>
          </a:prstGeom>
        </p:spPr>
        <p:txBody>
          <a:bodyPr lIns="0" tIns="0" rIns="0" bIns="0" rtlCol="0" anchor="t">
            <a:spAutoFit/>
          </a:bodyPr>
          <a:lstStyle/>
          <a:p>
            <a:pPr>
              <a:lnSpc>
                <a:spcPts val="6120"/>
              </a:lnSpc>
            </a:pPr>
            <a:r>
              <a:rPr lang="en-US" sz="5100">
                <a:solidFill>
                  <a:srgbClr val="000000"/>
                </a:solidFill>
                <a:latin typeface="Roboto Mono Regular Bold"/>
              </a:rPr>
              <a:t>LATAR BELAKANG WAWASAN NUSANTARA (WASANTARA)</a:t>
            </a:r>
          </a:p>
        </p:txBody>
      </p:sp>
      <p:sp>
        <p:nvSpPr>
          <p:cNvPr id="4" name="AutoShape 4"/>
          <p:cNvSpPr/>
          <p:nvPr/>
        </p:nvSpPr>
        <p:spPr>
          <a:xfrm>
            <a:off x="1028700" y="2263767"/>
            <a:ext cx="16230600" cy="0"/>
          </a:xfrm>
          <a:prstGeom prst="line">
            <a:avLst/>
          </a:prstGeom>
          <a:ln w="47625" cap="rnd">
            <a:solidFill>
              <a:srgbClr val="000000"/>
            </a:solidFill>
            <a:prstDash val="solid"/>
            <a:headEnd type="none" w="sm" len="sm"/>
            <a:tailEnd type="none" w="sm" len="sm"/>
          </a:ln>
        </p:spPr>
      </p:sp>
      <p:sp>
        <p:nvSpPr>
          <p:cNvPr id="5" name="AutoShape 5"/>
          <p:cNvSpPr/>
          <p:nvPr/>
        </p:nvSpPr>
        <p:spPr>
          <a:xfrm>
            <a:off x="1028700" y="4262158"/>
            <a:ext cx="16230600" cy="0"/>
          </a:xfrm>
          <a:prstGeom prst="line">
            <a:avLst/>
          </a:prstGeom>
          <a:ln w="19050" cap="rnd">
            <a:solidFill>
              <a:srgbClr val="000000"/>
            </a:solidFill>
            <a:prstDash val="solid"/>
            <a:headEnd type="none" w="sm" len="sm"/>
            <a:tailEnd type="none" w="sm" len="sm"/>
          </a:ln>
        </p:spPr>
      </p:sp>
      <p:sp>
        <p:nvSpPr>
          <p:cNvPr id="6" name="TextBox 6"/>
          <p:cNvSpPr txBox="1"/>
          <p:nvPr/>
        </p:nvSpPr>
        <p:spPr>
          <a:xfrm>
            <a:off x="1689456" y="5114925"/>
            <a:ext cx="14909089" cy="2065776"/>
          </a:xfrm>
          <a:prstGeom prst="rect">
            <a:avLst/>
          </a:prstGeom>
        </p:spPr>
        <p:txBody>
          <a:bodyPr lIns="0" tIns="0" rIns="0" bIns="0" rtlCol="0" anchor="t">
            <a:spAutoFit/>
          </a:bodyPr>
          <a:lstStyle/>
          <a:p>
            <a:pPr marL="686762" lvl="1" indent="-343381">
              <a:lnSpc>
                <a:spcPts val="4135"/>
              </a:lnSpc>
              <a:buFont typeface="Arial"/>
              <a:buChar char="•"/>
            </a:pPr>
            <a:r>
              <a:rPr lang="en-US" sz="3180">
                <a:solidFill>
                  <a:srgbClr val="000000"/>
                </a:solidFill>
                <a:latin typeface="Roboto Mono Regular Bold"/>
              </a:rPr>
              <a:t>Sebagai konsep, istilah wawasan nusantara dapat ditelusuri secara terminologi maupun etimologi. Berikut pengertian terminologi menurut para ahli atau tokoh dan lembaga mengenai istilah tersebut</a:t>
            </a: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411813" y="295288"/>
            <a:ext cx="1677300" cy="1686499"/>
          </a:xfrm>
          <a:prstGeom prst="rect">
            <a:avLst/>
          </a:prstGeom>
        </p:spPr>
      </p:pic>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87900" y="295288"/>
            <a:ext cx="1677300" cy="16864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BEC"/>
        </a:solidFill>
        <a:effectLst/>
      </p:bgPr>
    </p:bg>
    <p:spTree>
      <p:nvGrpSpPr>
        <p:cNvPr id="1" name=""/>
        <p:cNvGrpSpPr/>
        <p:nvPr/>
      </p:nvGrpSpPr>
      <p:grpSpPr>
        <a:xfrm>
          <a:off x="0" y="0"/>
          <a:ext cx="0" cy="0"/>
          <a:chOff x="0" y="0"/>
          <a:chExt cx="0" cy="0"/>
        </a:xfrm>
      </p:grpSpPr>
      <p:sp>
        <p:nvSpPr>
          <p:cNvPr id="2" name="AutoShape 2"/>
          <p:cNvSpPr/>
          <p:nvPr/>
        </p:nvSpPr>
        <p:spPr>
          <a:xfrm>
            <a:off x="1028700" y="520846"/>
            <a:ext cx="16230600" cy="9766154"/>
          </a:xfrm>
          <a:prstGeom prst="rect">
            <a:avLst/>
          </a:prstGeom>
          <a:solidFill>
            <a:srgbClr val="8BCEBF"/>
          </a:solidFill>
        </p:spPr>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202871" y="-484736"/>
            <a:ext cx="1677300" cy="1686499"/>
          </a:xfrm>
          <a:prstGeom prst="rect">
            <a:avLst/>
          </a:prstGeom>
        </p:spPr>
      </p:pic>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34041" y="-657799"/>
            <a:ext cx="1677300" cy="1686499"/>
          </a:xfrm>
          <a:prstGeom prst="rect">
            <a:avLst/>
          </a:prstGeom>
        </p:spPr>
      </p:pic>
      <p:grpSp>
        <p:nvGrpSpPr>
          <p:cNvPr id="5" name="Group 5"/>
          <p:cNvGrpSpPr/>
          <p:nvPr/>
        </p:nvGrpSpPr>
        <p:grpSpPr>
          <a:xfrm>
            <a:off x="6494438" y="2639032"/>
            <a:ext cx="9957844" cy="1806895"/>
            <a:chOff x="0" y="0"/>
            <a:chExt cx="6383124" cy="1158246"/>
          </a:xfrm>
        </p:grpSpPr>
        <p:sp>
          <p:nvSpPr>
            <p:cNvPr id="6" name="Freeform 6"/>
            <p:cNvSpPr/>
            <p:nvPr/>
          </p:nvSpPr>
          <p:spPr>
            <a:xfrm>
              <a:off x="41910" y="4318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6D612C"/>
            </a:solidFill>
          </p:spPr>
        </p:sp>
        <p:sp>
          <p:nvSpPr>
            <p:cNvPr id="7" name="Freeform 7"/>
            <p:cNvSpPr/>
            <p:nvPr/>
          </p:nvSpPr>
          <p:spPr>
            <a:xfrm>
              <a:off x="35560" y="35560"/>
              <a:ext cx="6347564" cy="1122686"/>
            </a:xfrm>
            <a:custGeom>
              <a:avLst/>
              <a:gdLst/>
              <a:ahLst/>
              <a:cxnLst/>
              <a:rect l="l" t="t" r="r" b="b"/>
              <a:pathLst>
                <a:path w="6347564" h="1122686">
                  <a:moveTo>
                    <a:pt x="6347564" y="1122686"/>
                  </a:moveTo>
                  <a:lnTo>
                    <a:pt x="0" y="1122686"/>
                  </a:lnTo>
                  <a:lnTo>
                    <a:pt x="0" y="0"/>
                  </a:lnTo>
                  <a:lnTo>
                    <a:pt x="6347564" y="0"/>
                  </a:lnTo>
                  <a:lnTo>
                    <a:pt x="6347564" y="1122686"/>
                  </a:lnTo>
                  <a:close/>
                  <a:moveTo>
                    <a:pt x="12700" y="1109986"/>
                  </a:moveTo>
                  <a:lnTo>
                    <a:pt x="6334864" y="1109986"/>
                  </a:lnTo>
                  <a:lnTo>
                    <a:pt x="6334864" y="12700"/>
                  </a:lnTo>
                  <a:lnTo>
                    <a:pt x="12700" y="12700"/>
                  </a:lnTo>
                  <a:lnTo>
                    <a:pt x="12700" y="1109986"/>
                  </a:lnTo>
                  <a:close/>
                </a:path>
              </a:pathLst>
            </a:custGeom>
            <a:solidFill>
              <a:srgbClr val="8A663F"/>
            </a:solidFill>
          </p:spPr>
        </p:sp>
        <p:sp>
          <p:nvSpPr>
            <p:cNvPr id="8" name="Freeform 8"/>
            <p:cNvSpPr/>
            <p:nvPr/>
          </p:nvSpPr>
          <p:spPr>
            <a:xfrm>
              <a:off x="0" y="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F89D2F"/>
            </a:solidFill>
          </p:spPr>
        </p:sp>
      </p:grpSp>
      <p:sp>
        <p:nvSpPr>
          <p:cNvPr id="9" name="TextBox 9"/>
          <p:cNvSpPr txBox="1"/>
          <p:nvPr/>
        </p:nvSpPr>
        <p:spPr>
          <a:xfrm>
            <a:off x="3187782" y="1414384"/>
            <a:ext cx="16342411" cy="786765"/>
          </a:xfrm>
          <a:prstGeom prst="rect">
            <a:avLst/>
          </a:prstGeom>
        </p:spPr>
        <p:txBody>
          <a:bodyPr lIns="0" tIns="0" rIns="0" bIns="0" rtlCol="0" anchor="t">
            <a:spAutoFit/>
          </a:bodyPr>
          <a:lstStyle/>
          <a:p>
            <a:pPr>
              <a:lnSpc>
                <a:spcPts val="6120"/>
              </a:lnSpc>
            </a:pPr>
            <a:r>
              <a:rPr lang="en-US" sz="5100" b="1" dirty="0" err="1">
                <a:solidFill>
                  <a:srgbClr val="000000"/>
                </a:solidFill>
                <a:latin typeface="Gagalin Bold"/>
              </a:rPr>
              <a:t>Pengertian</a:t>
            </a:r>
            <a:r>
              <a:rPr lang="en-US" sz="5100" b="1" dirty="0">
                <a:solidFill>
                  <a:srgbClr val="000000"/>
                </a:solidFill>
                <a:latin typeface="Gagalin Bold"/>
              </a:rPr>
              <a:t> </a:t>
            </a:r>
            <a:r>
              <a:rPr lang="en-US" sz="5100" b="1" dirty="0" err="1">
                <a:solidFill>
                  <a:srgbClr val="000000"/>
                </a:solidFill>
                <a:latin typeface="Gagalin Bold"/>
              </a:rPr>
              <a:t>Wasantara</a:t>
            </a:r>
            <a:r>
              <a:rPr lang="en-US" sz="5100" b="1" dirty="0">
                <a:solidFill>
                  <a:srgbClr val="000000"/>
                </a:solidFill>
                <a:latin typeface="Gagalin Bold"/>
              </a:rPr>
              <a:t> </a:t>
            </a:r>
            <a:r>
              <a:rPr lang="en-US" sz="5100" b="1" dirty="0" err="1">
                <a:solidFill>
                  <a:srgbClr val="000000"/>
                </a:solidFill>
                <a:latin typeface="Gagalin Bold"/>
              </a:rPr>
              <a:t>Menurut</a:t>
            </a:r>
            <a:r>
              <a:rPr lang="en-US" sz="5100" b="1" dirty="0">
                <a:solidFill>
                  <a:srgbClr val="000000"/>
                </a:solidFill>
                <a:latin typeface="Gagalin Bold"/>
              </a:rPr>
              <a:t> Para </a:t>
            </a:r>
            <a:r>
              <a:rPr lang="en-US" sz="5100" b="1" dirty="0" err="1">
                <a:solidFill>
                  <a:srgbClr val="000000"/>
                </a:solidFill>
                <a:latin typeface="Gagalin Bold"/>
              </a:rPr>
              <a:t>Ahli</a:t>
            </a:r>
            <a:endParaRPr lang="en-US" sz="5100" b="1" dirty="0">
              <a:solidFill>
                <a:srgbClr val="000000"/>
              </a:solidFill>
              <a:latin typeface="Gagalin Bold"/>
            </a:endParaRPr>
          </a:p>
        </p:txBody>
      </p:sp>
      <p:sp>
        <p:nvSpPr>
          <p:cNvPr id="10" name="TextBox 10"/>
          <p:cNvSpPr txBox="1"/>
          <p:nvPr/>
        </p:nvSpPr>
        <p:spPr>
          <a:xfrm>
            <a:off x="1689456" y="2610457"/>
            <a:ext cx="14909089" cy="506337"/>
          </a:xfrm>
          <a:prstGeom prst="rect">
            <a:avLst/>
          </a:prstGeom>
        </p:spPr>
        <p:txBody>
          <a:bodyPr lIns="0" tIns="0" rIns="0" bIns="0" rtlCol="0" anchor="t">
            <a:spAutoFit/>
          </a:bodyPr>
          <a:lstStyle/>
          <a:p>
            <a:pPr marL="686761" lvl="1" indent="-343381">
              <a:lnSpc>
                <a:spcPts val="4135"/>
              </a:lnSpc>
              <a:buFont typeface="Arial"/>
              <a:buChar char="•"/>
            </a:pPr>
            <a:r>
              <a:rPr lang="en-US" sz="3180" dirty="0">
                <a:solidFill>
                  <a:srgbClr val="000000"/>
                </a:solidFill>
                <a:latin typeface="Roboto Mono Regular Bold"/>
              </a:rPr>
              <a:t>HASNAN HABIB</a:t>
            </a:r>
          </a:p>
        </p:txBody>
      </p:sp>
      <p:sp>
        <p:nvSpPr>
          <p:cNvPr id="11" name="TextBox 11"/>
          <p:cNvSpPr txBox="1"/>
          <p:nvPr/>
        </p:nvSpPr>
        <p:spPr>
          <a:xfrm>
            <a:off x="6640701" y="2716207"/>
            <a:ext cx="9436575" cy="1604921"/>
          </a:xfrm>
          <a:prstGeom prst="rect">
            <a:avLst/>
          </a:prstGeom>
        </p:spPr>
        <p:txBody>
          <a:bodyPr lIns="0" tIns="0" rIns="0" bIns="0" rtlCol="0" anchor="t">
            <a:spAutoFit/>
          </a:bodyPr>
          <a:lstStyle/>
          <a:p>
            <a:pPr>
              <a:lnSpc>
                <a:spcPts val="3204"/>
              </a:lnSpc>
            </a:pPr>
            <a:r>
              <a:rPr lang="en-US" sz="2289">
                <a:solidFill>
                  <a:srgbClr val="000000"/>
                </a:solidFill>
                <a:latin typeface="Montserrat Classic Bold"/>
              </a:rPr>
              <a:t>Kebulatan wilayah nasional, termasuk satu kesatuan bangsa, satu tujuan dan tekad perjuangan dan satu kesatuan hukum, satu kesatuan social budaya, satu kesatuan ekonomi dan satu kesatuan hankam</a:t>
            </a:r>
          </a:p>
        </p:txBody>
      </p:sp>
      <p:sp>
        <p:nvSpPr>
          <p:cNvPr id="12" name="TextBox 12"/>
          <p:cNvSpPr txBox="1"/>
          <p:nvPr/>
        </p:nvSpPr>
        <p:spPr>
          <a:xfrm>
            <a:off x="1689456" y="4637163"/>
            <a:ext cx="14909089" cy="506337"/>
          </a:xfrm>
          <a:prstGeom prst="rect">
            <a:avLst/>
          </a:prstGeom>
        </p:spPr>
        <p:txBody>
          <a:bodyPr lIns="0" tIns="0" rIns="0" bIns="0" rtlCol="0" anchor="t">
            <a:spAutoFit/>
          </a:bodyPr>
          <a:lstStyle/>
          <a:p>
            <a:pPr marL="686761" lvl="1" indent="-343381">
              <a:lnSpc>
                <a:spcPts val="4135"/>
              </a:lnSpc>
              <a:buFont typeface="Arial"/>
              <a:buChar char="•"/>
            </a:pPr>
            <a:r>
              <a:rPr lang="en-US" sz="3180">
                <a:solidFill>
                  <a:srgbClr val="000000"/>
                </a:solidFill>
                <a:latin typeface="Roboto Mono Regular Bold"/>
              </a:rPr>
              <a:t>WAN USMAN</a:t>
            </a:r>
          </a:p>
        </p:txBody>
      </p:sp>
      <p:grpSp>
        <p:nvGrpSpPr>
          <p:cNvPr id="13" name="Group 13"/>
          <p:cNvGrpSpPr/>
          <p:nvPr/>
        </p:nvGrpSpPr>
        <p:grpSpPr>
          <a:xfrm>
            <a:off x="6494438" y="4445927"/>
            <a:ext cx="9957844" cy="1806895"/>
            <a:chOff x="0" y="0"/>
            <a:chExt cx="6383124" cy="1158246"/>
          </a:xfrm>
        </p:grpSpPr>
        <p:sp>
          <p:nvSpPr>
            <p:cNvPr id="14" name="Freeform 14"/>
            <p:cNvSpPr/>
            <p:nvPr/>
          </p:nvSpPr>
          <p:spPr>
            <a:xfrm>
              <a:off x="41910" y="4318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6D612C"/>
            </a:solidFill>
          </p:spPr>
        </p:sp>
        <p:sp>
          <p:nvSpPr>
            <p:cNvPr id="15" name="Freeform 15"/>
            <p:cNvSpPr/>
            <p:nvPr/>
          </p:nvSpPr>
          <p:spPr>
            <a:xfrm>
              <a:off x="35560" y="35560"/>
              <a:ext cx="6347564" cy="1122686"/>
            </a:xfrm>
            <a:custGeom>
              <a:avLst/>
              <a:gdLst/>
              <a:ahLst/>
              <a:cxnLst/>
              <a:rect l="l" t="t" r="r" b="b"/>
              <a:pathLst>
                <a:path w="6347564" h="1122686">
                  <a:moveTo>
                    <a:pt x="6347564" y="1122686"/>
                  </a:moveTo>
                  <a:lnTo>
                    <a:pt x="0" y="1122686"/>
                  </a:lnTo>
                  <a:lnTo>
                    <a:pt x="0" y="0"/>
                  </a:lnTo>
                  <a:lnTo>
                    <a:pt x="6347564" y="0"/>
                  </a:lnTo>
                  <a:lnTo>
                    <a:pt x="6347564" y="1122686"/>
                  </a:lnTo>
                  <a:close/>
                  <a:moveTo>
                    <a:pt x="12700" y="1109986"/>
                  </a:moveTo>
                  <a:lnTo>
                    <a:pt x="6334864" y="1109986"/>
                  </a:lnTo>
                  <a:lnTo>
                    <a:pt x="6334864" y="12700"/>
                  </a:lnTo>
                  <a:lnTo>
                    <a:pt x="12700" y="12700"/>
                  </a:lnTo>
                  <a:lnTo>
                    <a:pt x="12700" y="1109986"/>
                  </a:lnTo>
                  <a:close/>
                </a:path>
              </a:pathLst>
            </a:custGeom>
            <a:solidFill>
              <a:srgbClr val="8A663F"/>
            </a:solidFill>
          </p:spPr>
        </p:sp>
        <p:sp>
          <p:nvSpPr>
            <p:cNvPr id="16" name="Freeform 16"/>
            <p:cNvSpPr/>
            <p:nvPr/>
          </p:nvSpPr>
          <p:spPr>
            <a:xfrm>
              <a:off x="0" y="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F89D2F"/>
            </a:solidFill>
          </p:spPr>
        </p:sp>
      </p:grpSp>
      <p:grpSp>
        <p:nvGrpSpPr>
          <p:cNvPr id="17" name="Group 17"/>
          <p:cNvGrpSpPr/>
          <p:nvPr/>
        </p:nvGrpSpPr>
        <p:grpSpPr>
          <a:xfrm>
            <a:off x="6494438" y="6252822"/>
            <a:ext cx="9957844" cy="1806895"/>
            <a:chOff x="0" y="0"/>
            <a:chExt cx="6383124" cy="1158246"/>
          </a:xfrm>
        </p:grpSpPr>
        <p:sp>
          <p:nvSpPr>
            <p:cNvPr id="18" name="Freeform 18"/>
            <p:cNvSpPr/>
            <p:nvPr/>
          </p:nvSpPr>
          <p:spPr>
            <a:xfrm>
              <a:off x="41910" y="4318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6D612C"/>
            </a:solidFill>
          </p:spPr>
        </p:sp>
        <p:sp>
          <p:nvSpPr>
            <p:cNvPr id="19" name="Freeform 19"/>
            <p:cNvSpPr/>
            <p:nvPr/>
          </p:nvSpPr>
          <p:spPr>
            <a:xfrm>
              <a:off x="35560" y="35560"/>
              <a:ext cx="6347564" cy="1122686"/>
            </a:xfrm>
            <a:custGeom>
              <a:avLst/>
              <a:gdLst/>
              <a:ahLst/>
              <a:cxnLst/>
              <a:rect l="l" t="t" r="r" b="b"/>
              <a:pathLst>
                <a:path w="6347564" h="1122686">
                  <a:moveTo>
                    <a:pt x="6347564" y="1122686"/>
                  </a:moveTo>
                  <a:lnTo>
                    <a:pt x="0" y="1122686"/>
                  </a:lnTo>
                  <a:lnTo>
                    <a:pt x="0" y="0"/>
                  </a:lnTo>
                  <a:lnTo>
                    <a:pt x="6347564" y="0"/>
                  </a:lnTo>
                  <a:lnTo>
                    <a:pt x="6347564" y="1122686"/>
                  </a:lnTo>
                  <a:close/>
                  <a:moveTo>
                    <a:pt x="12700" y="1109986"/>
                  </a:moveTo>
                  <a:lnTo>
                    <a:pt x="6334864" y="1109986"/>
                  </a:lnTo>
                  <a:lnTo>
                    <a:pt x="6334864" y="12700"/>
                  </a:lnTo>
                  <a:lnTo>
                    <a:pt x="12700" y="12700"/>
                  </a:lnTo>
                  <a:lnTo>
                    <a:pt x="12700" y="1109986"/>
                  </a:lnTo>
                  <a:close/>
                </a:path>
              </a:pathLst>
            </a:custGeom>
            <a:solidFill>
              <a:srgbClr val="8A663F"/>
            </a:solidFill>
          </p:spPr>
        </p:sp>
        <p:sp>
          <p:nvSpPr>
            <p:cNvPr id="20" name="Freeform 20"/>
            <p:cNvSpPr/>
            <p:nvPr/>
          </p:nvSpPr>
          <p:spPr>
            <a:xfrm>
              <a:off x="0" y="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F89D2F"/>
            </a:solidFill>
          </p:spPr>
        </p:sp>
      </p:grpSp>
      <p:grpSp>
        <p:nvGrpSpPr>
          <p:cNvPr id="21" name="Group 21"/>
          <p:cNvGrpSpPr/>
          <p:nvPr/>
        </p:nvGrpSpPr>
        <p:grpSpPr>
          <a:xfrm>
            <a:off x="6494438" y="8059716"/>
            <a:ext cx="9957844" cy="1806895"/>
            <a:chOff x="0" y="0"/>
            <a:chExt cx="6383124" cy="1158246"/>
          </a:xfrm>
        </p:grpSpPr>
        <p:sp>
          <p:nvSpPr>
            <p:cNvPr id="22" name="Freeform 22"/>
            <p:cNvSpPr/>
            <p:nvPr/>
          </p:nvSpPr>
          <p:spPr>
            <a:xfrm>
              <a:off x="41910" y="4318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6D612C"/>
            </a:solidFill>
          </p:spPr>
        </p:sp>
        <p:sp>
          <p:nvSpPr>
            <p:cNvPr id="23" name="Freeform 23"/>
            <p:cNvSpPr/>
            <p:nvPr/>
          </p:nvSpPr>
          <p:spPr>
            <a:xfrm>
              <a:off x="35560" y="35560"/>
              <a:ext cx="6347564" cy="1122686"/>
            </a:xfrm>
            <a:custGeom>
              <a:avLst/>
              <a:gdLst/>
              <a:ahLst/>
              <a:cxnLst/>
              <a:rect l="l" t="t" r="r" b="b"/>
              <a:pathLst>
                <a:path w="6347564" h="1122686">
                  <a:moveTo>
                    <a:pt x="6347564" y="1122686"/>
                  </a:moveTo>
                  <a:lnTo>
                    <a:pt x="0" y="1122686"/>
                  </a:lnTo>
                  <a:lnTo>
                    <a:pt x="0" y="0"/>
                  </a:lnTo>
                  <a:lnTo>
                    <a:pt x="6347564" y="0"/>
                  </a:lnTo>
                  <a:lnTo>
                    <a:pt x="6347564" y="1122686"/>
                  </a:lnTo>
                  <a:close/>
                  <a:moveTo>
                    <a:pt x="12700" y="1109986"/>
                  </a:moveTo>
                  <a:lnTo>
                    <a:pt x="6334864" y="1109986"/>
                  </a:lnTo>
                  <a:lnTo>
                    <a:pt x="6334864" y="12700"/>
                  </a:lnTo>
                  <a:lnTo>
                    <a:pt x="12700" y="12700"/>
                  </a:lnTo>
                  <a:lnTo>
                    <a:pt x="12700" y="1109986"/>
                  </a:lnTo>
                  <a:close/>
                </a:path>
              </a:pathLst>
            </a:custGeom>
            <a:solidFill>
              <a:srgbClr val="8A663F"/>
            </a:solidFill>
          </p:spPr>
        </p:sp>
        <p:sp>
          <p:nvSpPr>
            <p:cNvPr id="24" name="Freeform 24"/>
            <p:cNvSpPr/>
            <p:nvPr/>
          </p:nvSpPr>
          <p:spPr>
            <a:xfrm>
              <a:off x="0" y="0"/>
              <a:ext cx="6334864" cy="1109986"/>
            </a:xfrm>
            <a:custGeom>
              <a:avLst/>
              <a:gdLst/>
              <a:ahLst/>
              <a:cxnLst/>
              <a:rect l="l" t="t" r="r" b="b"/>
              <a:pathLst>
                <a:path w="6334864" h="1109986">
                  <a:moveTo>
                    <a:pt x="0" y="0"/>
                  </a:moveTo>
                  <a:lnTo>
                    <a:pt x="6334864" y="0"/>
                  </a:lnTo>
                  <a:lnTo>
                    <a:pt x="6334864" y="1109986"/>
                  </a:lnTo>
                  <a:lnTo>
                    <a:pt x="0" y="1109986"/>
                  </a:lnTo>
                  <a:close/>
                </a:path>
              </a:pathLst>
            </a:custGeom>
            <a:solidFill>
              <a:srgbClr val="F89D2F"/>
            </a:solidFill>
          </p:spPr>
        </p:sp>
      </p:grpSp>
      <p:sp>
        <p:nvSpPr>
          <p:cNvPr id="25" name="TextBox 25"/>
          <p:cNvSpPr txBox="1"/>
          <p:nvPr/>
        </p:nvSpPr>
        <p:spPr>
          <a:xfrm>
            <a:off x="1689456" y="6224247"/>
            <a:ext cx="5136439" cy="1880477"/>
          </a:xfrm>
          <a:prstGeom prst="rect">
            <a:avLst/>
          </a:prstGeom>
        </p:spPr>
        <p:txBody>
          <a:bodyPr lIns="0" tIns="0" rIns="0" bIns="0" rtlCol="0" anchor="t">
            <a:spAutoFit/>
          </a:bodyPr>
          <a:lstStyle/>
          <a:p>
            <a:pPr marL="600403" lvl="1" indent="-300202">
              <a:lnSpc>
                <a:spcPts val="3615"/>
              </a:lnSpc>
              <a:buFont typeface="Arial"/>
              <a:buChar char="•"/>
            </a:pPr>
            <a:r>
              <a:rPr lang="en-US" sz="2780">
                <a:solidFill>
                  <a:srgbClr val="000000"/>
                </a:solidFill>
                <a:latin typeface="Roboto Mono Regular Bold"/>
              </a:rPr>
              <a:t>Majelis Permusyawaratan Rakyat tahun 1998</a:t>
            </a:r>
          </a:p>
          <a:p>
            <a:pPr>
              <a:lnSpc>
                <a:spcPts val="4135"/>
              </a:lnSpc>
            </a:pPr>
            <a:endParaRPr lang="en-US" sz="2780">
              <a:solidFill>
                <a:srgbClr val="000000"/>
              </a:solidFill>
              <a:latin typeface="Roboto Mono Regular Bold"/>
            </a:endParaRPr>
          </a:p>
        </p:txBody>
      </p:sp>
      <p:sp>
        <p:nvSpPr>
          <p:cNvPr id="26" name="TextBox 26"/>
          <p:cNvSpPr txBox="1"/>
          <p:nvPr/>
        </p:nvSpPr>
        <p:spPr>
          <a:xfrm>
            <a:off x="1689456" y="8085674"/>
            <a:ext cx="4336339" cy="1310882"/>
          </a:xfrm>
          <a:prstGeom prst="rect">
            <a:avLst/>
          </a:prstGeom>
        </p:spPr>
        <p:txBody>
          <a:bodyPr lIns="0" tIns="0" rIns="0" bIns="0" rtlCol="0" anchor="t">
            <a:spAutoFit/>
          </a:bodyPr>
          <a:lstStyle/>
          <a:p>
            <a:pPr marL="578814" lvl="1" indent="-289407">
              <a:lnSpc>
                <a:spcPts val="3485"/>
              </a:lnSpc>
              <a:buFont typeface="Arial"/>
              <a:buChar char="•"/>
            </a:pPr>
            <a:r>
              <a:rPr lang="en-US" sz="2680">
                <a:solidFill>
                  <a:srgbClr val="000000"/>
                </a:solidFill>
                <a:latin typeface="Roboto Mono Regular Bold"/>
              </a:rPr>
              <a:t>Lembaga Ketahanan Nasional Tahun 1988</a:t>
            </a:r>
          </a:p>
        </p:txBody>
      </p:sp>
      <p:sp>
        <p:nvSpPr>
          <p:cNvPr id="27" name="TextBox 27"/>
          <p:cNvSpPr txBox="1"/>
          <p:nvPr/>
        </p:nvSpPr>
        <p:spPr>
          <a:xfrm>
            <a:off x="6674765" y="4725031"/>
            <a:ext cx="9436575" cy="1201061"/>
          </a:xfrm>
          <a:prstGeom prst="rect">
            <a:avLst/>
          </a:prstGeom>
        </p:spPr>
        <p:txBody>
          <a:bodyPr lIns="0" tIns="0" rIns="0" bIns="0" rtlCol="0" anchor="t">
            <a:spAutoFit/>
          </a:bodyPr>
          <a:lstStyle/>
          <a:p>
            <a:pPr>
              <a:lnSpc>
                <a:spcPts val="3204"/>
              </a:lnSpc>
            </a:pPr>
            <a:r>
              <a:rPr lang="en-US" sz="2289">
                <a:solidFill>
                  <a:srgbClr val="000000"/>
                </a:solidFill>
                <a:latin typeface="Montserrat Classic Bold"/>
              </a:rPr>
              <a:t>Cara pandang bangsa Indonesia mengenai diri dan tanah airnya sebagai negara kepulauan dengan semua aspek kehidupan beragam</a:t>
            </a:r>
          </a:p>
        </p:txBody>
      </p:sp>
      <p:sp>
        <p:nvSpPr>
          <p:cNvPr id="28" name="TextBox 28"/>
          <p:cNvSpPr txBox="1"/>
          <p:nvPr/>
        </p:nvSpPr>
        <p:spPr>
          <a:xfrm>
            <a:off x="6674765" y="6442391"/>
            <a:ext cx="9436575" cy="1389656"/>
          </a:xfrm>
          <a:prstGeom prst="rect">
            <a:avLst/>
          </a:prstGeom>
        </p:spPr>
        <p:txBody>
          <a:bodyPr lIns="0" tIns="0" rIns="0" bIns="0" rtlCol="0" anchor="t">
            <a:spAutoFit/>
          </a:bodyPr>
          <a:lstStyle/>
          <a:p>
            <a:pPr>
              <a:lnSpc>
                <a:spcPts val="2784"/>
              </a:lnSpc>
            </a:pPr>
            <a:r>
              <a:rPr lang="en-US" sz="1989">
                <a:solidFill>
                  <a:srgbClr val="000000"/>
                </a:solidFill>
                <a:latin typeface="Montserrat Classic Bold"/>
              </a:rPr>
              <a:t>Cara pandang dan sikap bangsa Indonesia mengenai diri dan lingkungannya, dengan mengutamakan persatuan dan kesatuan bangsa serta kesatuan wilayah dalam penyelenggaraan kehidupan bermasyarakat, berbangsa dan bernegara</a:t>
            </a:r>
          </a:p>
        </p:txBody>
      </p:sp>
      <p:sp>
        <p:nvSpPr>
          <p:cNvPr id="29" name="TextBox 29"/>
          <p:cNvSpPr txBox="1"/>
          <p:nvPr/>
        </p:nvSpPr>
        <p:spPr>
          <a:xfrm>
            <a:off x="6674765" y="8313420"/>
            <a:ext cx="9697210" cy="1251861"/>
          </a:xfrm>
          <a:prstGeom prst="rect">
            <a:avLst/>
          </a:prstGeom>
        </p:spPr>
        <p:txBody>
          <a:bodyPr lIns="0" tIns="0" rIns="0" bIns="0" rtlCol="0" anchor="t">
            <a:spAutoFit/>
          </a:bodyPr>
          <a:lstStyle/>
          <a:p>
            <a:pPr>
              <a:lnSpc>
                <a:spcPts val="2504"/>
              </a:lnSpc>
            </a:pPr>
            <a:r>
              <a:rPr lang="en-US" sz="1789">
                <a:solidFill>
                  <a:srgbClr val="000000"/>
                </a:solidFill>
                <a:latin typeface="Montserrat Classic Bold"/>
              </a:rPr>
              <a:t>Cara pandang dan sikap bangasa Indonesia mengenai diri dan lingkungannya yang serba beragam dan bernilai strategis dengan mengutamakan persatuan dan kesatuan bangsa dan serta kesatuan wilayah dalam penyelenggaraan kehidupan bermasyarakat, berbangsa, dan bernegara untuk mencapai tujuan nasional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BEC"/>
        </a:solidFill>
        <a:effectLst/>
      </p:bgPr>
    </p:bg>
    <p:spTree>
      <p:nvGrpSpPr>
        <p:cNvPr id="1" name=""/>
        <p:cNvGrpSpPr/>
        <p:nvPr/>
      </p:nvGrpSpPr>
      <p:grpSpPr>
        <a:xfrm>
          <a:off x="0" y="0"/>
          <a:ext cx="0" cy="0"/>
          <a:chOff x="0" y="0"/>
          <a:chExt cx="0" cy="0"/>
        </a:xfrm>
      </p:grpSpPr>
      <p:grpSp>
        <p:nvGrpSpPr>
          <p:cNvPr id="2" name="Group 2"/>
          <p:cNvGrpSpPr/>
          <p:nvPr/>
        </p:nvGrpSpPr>
        <p:grpSpPr>
          <a:xfrm>
            <a:off x="734471" y="1827138"/>
            <a:ext cx="15972381" cy="9229973"/>
            <a:chOff x="0" y="0"/>
            <a:chExt cx="5490351" cy="3172714"/>
          </a:xfrm>
        </p:grpSpPr>
        <p:sp>
          <p:nvSpPr>
            <p:cNvPr id="3" name="Freeform 3"/>
            <p:cNvSpPr/>
            <p:nvPr/>
          </p:nvSpPr>
          <p:spPr>
            <a:xfrm>
              <a:off x="0" y="0"/>
              <a:ext cx="5490351" cy="3172714"/>
            </a:xfrm>
            <a:custGeom>
              <a:avLst/>
              <a:gdLst/>
              <a:ahLst/>
              <a:cxnLst/>
              <a:rect l="l" t="t" r="r" b="b"/>
              <a:pathLst>
                <a:path w="5490351" h="3172714">
                  <a:moveTo>
                    <a:pt x="5365891" y="3172714"/>
                  </a:moveTo>
                  <a:lnTo>
                    <a:pt x="124460" y="3172714"/>
                  </a:lnTo>
                  <a:cubicBezTo>
                    <a:pt x="55880" y="3172714"/>
                    <a:pt x="0" y="3116834"/>
                    <a:pt x="0" y="3048254"/>
                  </a:cubicBezTo>
                  <a:lnTo>
                    <a:pt x="0" y="124460"/>
                  </a:lnTo>
                  <a:cubicBezTo>
                    <a:pt x="0" y="55880"/>
                    <a:pt x="55880" y="0"/>
                    <a:pt x="124460" y="0"/>
                  </a:cubicBezTo>
                  <a:lnTo>
                    <a:pt x="5365891" y="0"/>
                  </a:lnTo>
                  <a:cubicBezTo>
                    <a:pt x="5434471" y="0"/>
                    <a:pt x="5490351" y="55880"/>
                    <a:pt x="5490351" y="124460"/>
                  </a:cubicBezTo>
                  <a:lnTo>
                    <a:pt x="5490351" y="3048254"/>
                  </a:lnTo>
                  <a:cubicBezTo>
                    <a:pt x="5490351" y="3116834"/>
                    <a:pt x="5434471" y="3172714"/>
                    <a:pt x="5365891" y="3172714"/>
                  </a:cubicBezTo>
                  <a:close/>
                </a:path>
              </a:pathLst>
            </a:custGeom>
            <a:solidFill>
              <a:srgbClr val="D25525"/>
            </a:solidFill>
          </p:spPr>
        </p:sp>
      </p:grpSp>
      <p:grpSp>
        <p:nvGrpSpPr>
          <p:cNvPr id="4" name="Group 4"/>
          <p:cNvGrpSpPr/>
          <p:nvPr/>
        </p:nvGrpSpPr>
        <p:grpSpPr>
          <a:xfrm rot="-10800000">
            <a:off x="1433554" y="1123950"/>
            <a:ext cx="5939862" cy="929058"/>
            <a:chOff x="0" y="0"/>
            <a:chExt cx="38779425" cy="6065520"/>
          </a:xfrm>
        </p:grpSpPr>
        <p:sp>
          <p:nvSpPr>
            <p:cNvPr id="5" name="Freeform 5"/>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D25525"/>
            </a:solidFill>
          </p:spPr>
        </p:sp>
      </p:grpSp>
      <p:grpSp>
        <p:nvGrpSpPr>
          <p:cNvPr id="6" name="Group 6"/>
          <p:cNvGrpSpPr/>
          <p:nvPr/>
        </p:nvGrpSpPr>
        <p:grpSpPr>
          <a:xfrm>
            <a:off x="1703426" y="1588479"/>
            <a:ext cx="15555874" cy="9381757"/>
            <a:chOff x="0" y="0"/>
            <a:chExt cx="20741165" cy="12509009"/>
          </a:xfrm>
        </p:grpSpPr>
        <p:grpSp>
          <p:nvGrpSpPr>
            <p:cNvPr id="7" name="Group 7"/>
            <p:cNvGrpSpPr/>
            <p:nvPr/>
          </p:nvGrpSpPr>
          <p:grpSpPr>
            <a:xfrm>
              <a:off x="0" y="1142541"/>
              <a:ext cx="20741165" cy="11366468"/>
              <a:chOff x="0" y="0"/>
              <a:chExt cx="5490351" cy="3008794"/>
            </a:xfrm>
          </p:grpSpPr>
          <p:sp>
            <p:nvSpPr>
              <p:cNvPr id="8" name="Freeform 8"/>
              <p:cNvSpPr/>
              <p:nvPr/>
            </p:nvSpPr>
            <p:spPr>
              <a:xfrm>
                <a:off x="0" y="0"/>
                <a:ext cx="5490351" cy="3008794"/>
              </a:xfrm>
              <a:custGeom>
                <a:avLst/>
                <a:gdLst/>
                <a:ahLst/>
                <a:cxnLst/>
                <a:rect l="l" t="t" r="r" b="b"/>
                <a:pathLst>
                  <a:path w="5490351" h="3008794">
                    <a:moveTo>
                      <a:pt x="5365891" y="3008794"/>
                    </a:moveTo>
                    <a:lnTo>
                      <a:pt x="124460" y="3008794"/>
                    </a:lnTo>
                    <a:cubicBezTo>
                      <a:pt x="55880" y="3008794"/>
                      <a:pt x="0" y="2952914"/>
                      <a:pt x="0" y="2884334"/>
                    </a:cubicBezTo>
                    <a:lnTo>
                      <a:pt x="0" y="124460"/>
                    </a:lnTo>
                    <a:cubicBezTo>
                      <a:pt x="0" y="55880"/>
                      <a:pt x="55880" y="0"/>
                      <a:pt x="124460" y="0"/>
                    </a:cubicBezTo>
                    <a:lnTo>
                      <a:pt x="5365891" y="0"/>
                    </a:lnTo>
                    <a:cubicBezTo>
                      <a:pt x="5434471" y="0"/>
                      <a:pt x="5490351" y="55880"/>
                      <a:pt x="5490351" y="124460"/>
                    </a:cubicBezTo>
                    <a:lnTo>
                      <a:pt x="5490351" y="2884334"/>
                    </a:lnTo>
                    <a:cubicBezTo>
                      <a:pt x="5490351" y="2952914"/>
                      <a:pt x="5434471" y="3008794"/>
                      <a:pt x="5365891" y="3008794"/>
                    </a:cubicBezTo>
                    <a:close/>
                  </a:path>
                </a:pathLst>
              </a:custGeom>
              <a:solidFill>
                <a:srgbClr val="F89D2F"/>
              </a:solidFill>
            </p:spPr>
          </p:sp>
        </p:grpSp>
        <p:grpSp>
          <p:nvGrpSpPr>
            <p:cNvPr id="9" name="Group 9"/>
            <p:cNvGrpSpPr/>
            <p:nvPr/>
          </p:nvGrpSpPr>
          <p:grpSpPr>
            <a:xfrm rot="-10800000">
              <a:off x="10688424" y="0"/>
              <a:ext cx="8880221" cy="1388962"/>
              <a:chOff x="0" y="0"/>
              <a:chExt cx="38779425" cy="6065520"/>
            </a:xfrm>
          </p:grpSpPr>
          <p:sp>
            <p:nvSpPr>
              <p:cNvPr id="10" name="Freeform 10"/>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89D2F"/>
              </a:solidFill>
            </p:spPr>
          </p:sp>
        </p:grpSp>
      </p:grpSp>
      <p:sp>
        <p:nvSpPr>
          <p:cNvPr id="11" name="TextBox 11"/>
          <p:cNvSpPr txBox="1"/>
          <p:nvPr/>
        </p:nvSpPr>
        <p:spPr>
          <a:xfrm>
            <a:off x="2761349" y="2678299"/>
            <a:ext cx="12765302" cy="2356485"/>
          </a:xfrm>
          <a:prstGeom prst="rect">
            <a:avLst/>
          </a:prstGeom>
        </p:spPr>
        <p:txBody>
          <a:bodyPr lIns="0" tIns="0" rIns="0" bIns="0" rtlCol="0" anchor="t">
            <a:spAutoFit/>
          </a:bodyPr>
          <a:lstStyle/>
          <a:p>
            <a:pPr algn="ctr">
              <a:lnSpc>
                <a:spcPts val="9240"/>
              </a:lnSpc>
            </a:pPr>
            <a:r>
              <a:rPr lang="en-US" sz="7700">
                <a:solidFill>
                  <a:srgbClr val="FFFBEC"/>
                </a:solidFill>
                <a:latin typeface="Roboto Mono Regular Bold"/>
              </a:rPr>
              <a:t>PENGERTIAN WASANTARA SECARA ETIMOLOGIS</a:t>
            </a: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332594">
            <a:off x="-652782" y="6959519"/>
            <a:ext cx="3362963" cy="3186408"/>
          </a:xfrm>
          <a:prstGeom prst="rect">
            <a:avLst/>
          </a:prstGeom>
        </p:spPr>
      </p:pic>
      <p:sp>
        <p:nvSpPr>
          <p:cNvPr id="13" name="TextBox 13"/>
          <p:cNvSpPr txBox="1"/>
          <p:nvPr/>
        </p:nvSpPr>
        <p:spPr>
          <a:xfrm>
            <a:off x="2645822" y="5062855"/>
            <a:ext cx="13671083" cy="5295104"/>
          </a:xfrm>
          <a:prstGeom prst="rect">
            <a:avLst/>
          </a:prstGeom>
        </p:spPr>
        <p:txBody>
          <a:bodyPr lIns="0" tIns="0" rIns="0" bIns="0" rtlCol="0" anchor="t">
            <a:spAutoFit/>
          </a:bodyPr>
          <a:lstStyle/>
          <a:p>
            <a:pPr>
              <a:lnSpc>
                <a:spcPts val="3780"/>
              </a:lnSpc>
            </a:pPr>
            <a:r>
              <a:rPr lang="en-US" sz="2700" dirty="0">
                <a:solidFill>
                  <a:srgbClr val="000000"/>
                </a:solidFill>
                <a:latin typeface="Roboto Mono Regular Bold"/>
              </a:rPr>
              <a:t>Kata </a:t>
            </a:r>
            <a:r>
              <a:rPr lang="en-US" sz="2700" dirty="0" err="1">
                <a:solidFill>
                  <a:srgbClr val="000000"/>
                </a:solidFill>
                <a:latin typeface="Roboto Mono Regular Bold"/>
              </a:rPr>
              <a:t>wawasan</a:t>
            </a:r>
            <a:r>
              <a:rPr lang="en-US" sz="2700" dirty="0">
                <a:solidFill>
                  <a:srgbClr val="000000"/>
                </a:solidFill>
                <a:latin typeface="Roboto Mono Regular Bold"/>
              </a:rPr>
              <a:t> </a:t>
            </a:r>
            <a:r>
              <a:rPr lang="en-US" sz="2700" dirty="0" err="1">
                <a:solidFill>
                  <a:srgbClr val="000000"/>
                </a:solidFill>
                <a:latin typeface="Roboto Mono Regular Bold"/>
              </a:rPr>
              <a:t>nusantara</a:t>
            </a:r>
            <a:r>
              <a:rPr lang="en-US" sz="2700" dirty="0">
                <a:solidFill>
                  <a:srgbClr val="000000"/>
                </a:solidFill>
                <a:latin typeface="Roboto Mono Regular Bold"/>
              </a:rPr>
              <a:t> </a:t>
            </a:r>
            <a:r>
              <a:rPr lang="en-US" sz="2700" dirty="0" err="1">
                <a:solidFill>
                  <a:srgbClr val="000000"/>
                </a:solidFill>
                <a:latin typeface="Roboto Mono Regular Bold"/>
              </a:rPr>
              <a:t>berasal</a:t>
            </a:r>
            <a:r>
              <a:rPr lang="en-US" sz="2700" dirty="0">
                <a:solidFill>
                  <a:srgbClr val="000000"/>
                </a:solidFill>
                <a:latin typeface="Roboto Mono Regular Bold"/>
              </a:rPr>
              <a:t> </a:t>
            </a:r>
            <a:r>
              <a:rPr lang="en-US" sz="2700" dirty="0" err="1">
                <a:solidFill>
                  <a:srgbClr val="000000"/>
                </a:solidFill>
                <a:latin typeface="Roboto Mono Regular Bold"/>
              </a:rPr>
              <a:t>dari</a:t>
            </a:r>
            <a:r>
              <a:rPr lang="en-US" sz="2700" dirty="0">
                <a:solidFill>
                  <a:srgbClr val="000000"/>
                </a:solidFill>
                <a:latin typeface="Roboto Mono Regular Bold"/>
              </a:rPr>
              <a:t> </a:t>
            </a:r>
            <a:r>
              <a:rPr lang="en-US" sz="2700" dirty="0" err="1">
                <a:solidFill>
                  <a:srgbClr val="000000"/>
                </a:solidFill>
                <a:latin typeface="Roboto Mono Regular Bold"/>
              </a:rPr>
              <a:t>dua</a:t>
            </a:r>
            <a:r>
              <a:rPr lang="en-US" sz="2700" dirty="0">
                <a:solidFill>
                  <a:srgbClr val="000000"/>
                </a:solidFill>
                <a:latin typeface="Roboto Mono Regular Bold"/>
              </a:rPr>
              <a:t> kata </a:t>
            </a:r>
            <a:r>
              <a:rPr lang="en-US" sz="2700" dirty="0" err="1">
                <a:solidFill>
                  <a:srgbClr val="000000"/>
                </a:solidFill>
                <a:latin typeface="Roboto Mono Regular Bold"/>
              </a:rPr>
              <a:t>yaitu</a:t>
            </a:r>
            <a:r>
              <a:rPr lang="en-US" sz="2700" dirty="0">
                <a:solidFill>
                  <a:srgbClr val="000000"/>
                </a:solidFill>
                <a:latin typeface="Roboto Mono Regular Bold"/>
              </a:rPr>
              <a:t> </a:t>
            </a:r>
            <a:r>
              <a:rPr lang="en-US" sz="2700" dirty="0" err="1">
                <a:solidFill>
                  <a:srgbClr val="000000"/>
                </a:solidFill>
                <a:latin typeface="Roboto Mono Regular Bold"/>
              </a:rPr>
              <a:t>wawasan</a:t>
            </a:r>
            <a:r>
              <a:rPr lang="en-US" sz="2700" dirty="0">
                <a:solidFill>
                  <a:srgbClr val="000000"/>
                </a:solidFill>
                <a:latin typeface="Roboto Mono Regular Bold"/>
              </a:rPr>
              <a:t> </a:t>
            </a:r>
            <a:r>
              <a:rPr lang="en-US" sz="2700" dirty="0" err="1">
                <a:solidFill>
                  <a:srgbClr val="000000"/>
                </a:solidFill>
                <a:latin typeface="Roboto Mono Regular Bold"/>
              </a:rPr>
              <a:t>dan</a:t>
            </a:r>
            <a:r>
              <a:rPr lang="en-US" sz="2700" dirty="0">
                <a:solidFill>
                  <a:srgbClr val="000000"/>
                </a:solidFill>
                <a:latin typeface="Roboto Mono Regular Bold"/>
              </a:rPr>
              <a:t> </a:t>
            </a:r>
            <a:r>
              <a:rPr lang="en-US" sz="2700" dirty="0" err="1">
                <a:solidFill>
                  <a:srgbClr val="000000"/>
                </a:solidFill>
                <a:latin typeface="Roboto Mono Regular Bold"/>
              </a:rPr>
              <a:t>nusantara</a:t>
            </a:r>
            <a:r>
              <a:rPr lang="en-US" sz="2700" dirty="0">
                <a:solidFill>
                  <a:srgbClr val="000000"/>
                </a:solidFill>
                <a:latin typeface="Roboto Mono Regular Bold"/>
              </a:rPr>
              <a:t>. </a:t>
            </a:r>
            <a:r>
              <a:rPr lang="en-US" sz="2700" dirty="0" err="1">
                <a:solidFill>
                  <a:srgbClr val="000000"/>
                </a:solidFill>
                <a:latin typeface="Roboto Mono Regular Bold"/>
              </a:rPr>
              <a:t>Wawasan</a:t>
            </a:r>
            <a:r>
              <a:rPr lang="en-US" sz="2700" dirty="0">
                <a:solidFill>
                  <a:srgbClr val="000000"/>
                </a:solidFill>
                <a:latin typeface="Roboto Mono Regular Bold"/>
              </a:rPr>
              <a:t> </a:t>
            </a:r>
            <a:r>
              <a:rPr lang="en-US" sz="2700" dirty="0" err="1">
                <a:solidFill>
                  <a:srgbClr val="000000"/>
                </a:solidFill>
                <a:latin typeface="Roboto Mono Regular Bold"/>
              </a:rPr>
              <a:t>dari</a:t>
            </a:r>
            <a:r>
              <a:rPr lang="en-US" sz="2700" dirty="0">
                <a:solidFill>
                  <a:srgbClr val="000000"/>
                </a:solidFill>
                <a:latin typeface="Roboto Mono Regular Bold"/>
              </a:rPr>
              <a:t> kata </a:t>
            </a:r>
            <a:r>
              <a:rPr lang="en-US" sz="2700" dirty="0" err="1">
                <a:solidFill>
                  <a:srgbClr val="000000"/>
                </a:solidFill>
                <a:latin typeface="Roboto Mono Regular Bold"/>
              </a:rPr>
              <a:t>wawas</a:t>
            </a:r>
            <a:r>
              <a:rPr lang="en-US" sz="2700" dirty="0">
                <a:solidFill>
                  <a:srgbClr val="000000"/>
                </a:solidFill>
                <a:latin typeface="Roboto Mono Regular Bold"/>
              </a:rPr>
              <a:t> (</a:t>
            </a:r>
            <a:r>
              <a:rPr lang="en-US" sz="2700" dirty="0" err="1">
                <a:solidFill>
                  <a:srgbClr val="000000"/>
                </a:solidFill>
                <a:latin typeface="Roboto Mono Regular Bold"/>
              </a:rPr>
              <a:t>Bahasa</a:t>
            </a:r>
            <a:r>
              <a:rPr lang="en-US" sz="2700" dirty="0">
                <a:solidFill>
                  <a:srgbClr val="000000"/>
                </a:solidFill>
                <a:latin typeface="Roboto Mono Regular Bold"/>
              </a:rPr>
              <a:t> </a:t>
            </a:r>
            <a:r>
              <a:rPr lang="en-US" sz="2700" dirty="0" err="1">
                <a:solidFill>
                  <a:srgbClr val="000000"/>
                </a:solidFill>
                <a:latin typeface="Roboto Mono Regular Bold"/>
              </a:rPr>
              <a:t>Jawa</a:t>
            </a:r>
            <a:r>
              <a:rPr lang="en-US" sz="2700" dirty="0">
                <a:solidFill>
                  <a:srgbClr val="000000"/>
                </a:solidFill>
                <a:latin typeface="Roboto Mono Regular Bold"/>
              </a:rPr>
              <a:t>) yang </a:t>
            </a:r>
            <a:r>
              <a:rPr lang="en-US" sz="2700" dirty="0" err="1">
                <a:solidFill>
                  <a:srgbClr val="000000"/>
                </a:solidFill>
                <a:latin typeface="Roboto Mono Regular Bold"/>
              </a:rPr>
              <a:t>artinya</a:t>
            </a:r>
            <a:r>
              <a:rPr lang="en-US" sz="2700" dirty="0">
                <a:solidFill>
                  <a:srgbClr val="000000"/>
                </a:solidFill>
                <a:latin typeface="Roboto Mono Regular Bold"/>
              </a:rPr>
              <a:t> </a:t>
            </a:r>
            <a:r>
              <a:rPr lang="en-US" sz="2700" dirty="0" err="1">
                <a:solidFill>
                  <a:srgbClr val="000000"/>
                </a:solidFill>
                <a:latin typeface="Roboto Mono Regular Bold"/>
              </a:rPr>
              <a:t>pandangan</a:t>
            </a:r>
            <a:r>
              <a:rPr lang="en-US" sz="2700" dirty="0">
                <a:solidFill>
                  <a:srgbClr val="000000"/>
                </a:solidFill>
                <a:latin typeface="Roboto Mono Regular Bold"/>
              </a:rPr>
              <a:t>. </a:t>
            </a:r>
            <a:r>
              <a:rPr lang="en-US" sz="2700" dirty="0" err="1">
                <a:solidFill>
                  <a:srgbClr val="000000"/>
                </a:solidFill>
                <a:latin typeface="Roboto Mono Regular Bold"/>
              </a:rPr>
              <a:t>Sementara</a:t>
            </a:r>
            <a:r>
              <a:rPr lang="en-US" sz="2700" dirty="0">
                <a:solidFill>
                  <a:srgbClr val="000000"/>
                </a:solidFill>
                <a:latin typeface="Roboto Mono Regular Bold"/>
              </a:rPr>
              <a:t> kata Nusantara </a:t>
            </a:r>
            <a:r>
              <a:rPr lang="en-US" sz="2700" dirty="0" err="1">
                <a:solidFill>
                  <a:srgbClr val="000000"/>
                </a:solidFill>
                <a:latin typeface="Roboto Mono Regular Bold"/>
              </a:rPr>
              <a:t>merupakan</a:t>
            </a:r>
            <a:r>
              <a:rPr lang="en-US" sz="2700" dirty="0">
                <a:solidFill>
                  <a:srgbClr val="000000"/>
                </a:solidFill>
                <a:latin typeface="Roboto Mono Regular Bold"/>
              </a:rPr>
              <a:t> </a:t>
            </a:r>
            <a:r>
              <a:rPr lang="en-US" sz="2700" dirty="0" err="1">
                <a:solidFill>
                  <a:srgbClr val="000000"/>
                </a:solidFill>
                <a:latin typeface="Roboto Mono Regular Bold"/>
              </a:rPr>
              <a:t>gabungan</a:t>
            </a:r>
            <a:r>
              <a:rPr lang="en-US" sz="2700" dirty="0">
                <a:solidFill>
                  <a:srgbClr val="000000"/>
                </a:solidFill>
                <a:latin typeface="Roboto Mono Regular Bold"/>
              </a:rPr>
              <a:t> kata </a:t>
            </a:r>
            <a:r>
              <a:rPr lang="en-US" sz="2700" dirty="0" err="1">
                <a:solidFill>
                  <a:srgbClr val="000000"/>
                </a:solidFill>
                <a:latin typeface="Roboto Mono Regular Bold"/>
              </a:rPr>
              <a:t>nusa</a:t>
            </a:r>
            <a:r>
              <a:rPr lang="en-US" sz="2700" dirty="0">
                <a:solidFill>
                  <a:srgbClr val="000000"/>
                </a:solidFill>
                <a:latin typeface="Roboto Mono Regular Bold"/>
              </a:rPr>
              <a:t> yang </a:t>
            </a:r>
            <a:r>
              <a:rPr lang="en-US" sz="2700" dirty="0" err="1">
                <a:solidFill>
                  <a:srgbClr val="000000"/>
                </a:solidFill>
                <a:latin typeface="Roboto Mono Regular Bold"/>
              </a:rPr>
              <a:t>artinya</a:t>
            </a:r>
            <a:r>
              <a:rPr lang="en-US" sz="2700" dirty="0">
                <a:solidFill>
                  <a:srgbClr val="000000"/>
                </a:solidFill>
                <a:latin typeface="Roboto Mono Regular Bold"/>
              </a:rPr>
              <a:t> </a:t>
            </a:r>
            <a:r>
              <a:rPr lang="en-US" sz="2700" dirty="0" err="1">
                <a:solidFill>
                  <a:srgbClr val="000000"/>
                </a:solidFill>
                <a:latin typeface="Roboto Mono Regular Bold"/>
              </a:rPr>
              <a:t>pulau</a:t>
            </a:r>
            <a:r>
              <a:rPr lang="en-US" sz="2700" dirty="0">
                <a:solidFill>
                  <a:srgbClr val="000000"/>
                </a:solidFill>
                <a:latin typeface="Roboto Mono Regular Bold"/>
              </a:rPr>
              <a:t> </a:t>
            </a:r>
            <a:r>
              <a:rPr lang="en-US" sz="2700" dirty="0" err="1">
                <a:solidFill>
                  <a:srgbClr val="000000"/>
                </a:solidFill>
                <a:latin typeface="Roboto Mono Regular Bold"/>
              </a:rPr>
              <a:t>dan</a:t>
            </a:r>
            <a:r>
              <a:rPr lang="en-US" sz="2700" dirty="0">
                <a:solidFill>
                  <a:srgbClr val="000000"/>
                </a:solidFill>
                <a:latin typeface="Roboto Mono Regular Bold"/>
              </a:rPr>
              <a:t> </a:t>
            </a:r>
            <a:r>
              <a:rPr lang="en-US" sz="2700" dirty="0" err="1">
                <a:solidFill>
                  <a:srgbClr val="000000"/>
                </a:solidFill>
                <a:latin typeface="Roboto Mono Regular Bold"/>
              </a:rPr>
              <a:t>antara</a:t>
            </a:r>
            <a:r>
              <a:rPr lang="en-US" sz="2700" dirty="0">
                <a:solidFill>
                  <a:srgbClr val="000000"/>
                </a:solidFill>
                <a:latin typeface="Roboto Mono Regular Bold"/>
              </a:rPr>
              <a:t>. Kata </a:t>
            </a:r>
            <a:r>
              <a:rPr lang="en-US" sz="2700" dirty="0" err="1">
                <a:solidFill>
                  <a:srgbClr val="000000"/>
                </a:solidFill>
                <a:latin typeface="Roboto Mono Regular Bold"/>
              </a:rPr>
              <a:t>nusa</a:t>
            </a:r>
            <a:r>
              <a:rPr lang="en-US" sz="2700" dirty="0">
                <a:solidFill>
                  <a:srgbClr val="000000"/>
                </a:solidFill>
                <a:latin typeface="Roboto Mono Regular Bold"/>
              </a:rPr>
              <a:t> </a:t>
            </a:r>
            <a:r>
              <a:rPr lang="en-US" sz="2700" dirty="0" err="1">
                <a:solidFill>
                  <a:srgbClr val="000000"/>
                </a:solidFill>
                <a:latin typeface="Roboto Mono Regular Bold"/>
              </a:rPr>
              <a:t>dalam</a:t>
            </a:r>
            <a:r>
              <a:rPr lang="en-US" sz="2700" dirty="0">
                <a:solidFill>
                  <a:srgbClr val="000000"/>
                </a:solidFill>
                <a:latin typeface="Roboto Mono Regular Bold"/>
              </a:rPr>
              <a:t> </a:t>
            </a:r>
            <a:r>
              <a:rPr lang="en-US" sz="2700" dirty="0" err="1">
                <a:solidFill>
                  <a:srgbClr val="000000"/>
                </a:solidFill>
                <a:latin typeface="Roboto Mono Regular Bold"/>
              </a:rPr>
              <a:t>Bahasa</a:t>
            </a:r>
            <a:r>
              <a:rPr lang="en-US" sz="2700" dirty="0">
                <a:solidFill>
                  <a:srgbClr val="000000"/>
                </a:solidFill>
                <a:latin typeface="Roboto Mono Regular Bold"/>
              </a:rPr>
              <a:t> </a:t>
            </a:r>
            <a:r>
              <a:rPr lang="en-US" sz="2700" dirty="0" err="1">
                <a:solidFill>
                  <a:srgbClr val="000000"/>
                </a:solidFill>
                <a:latin typeface="Roboto Mono Regular Bold"/>
              </a:rPr>
              <a:t>Sanskerta</a:t>
            </a:r>
            <a:r>
              <a:rPr lang="en-US" sz="2700" dirty="0">
                <a:solidFill>
                  <a:srgbClr val="000000"/>
                </a:solidFill>
                <a:latin typeface="Roboto Mono Regular Bold"/>
              </a:rPr>
              <a:t> </a:t>
            </a:r>
            <a:r>
              <a:rPr lang="en-US" sz="2700" dirty="0" err="1">
                <a:solidFill>
                  <a:srgbClr val="000000"/>
                </a:solidFill>
                <a:latin typeface="Roboto Mono Regular Bold"/>
              </a:rPr>
              <a:t>berarti</a:t>
            </a:r>
            <a:r>
              <a:rPr lang="en-US" sz="2700" dirty="0">
                <a:solidFill>
                  <a:srgbClr val="000000"/>
                </a:solidFill>
                <a:latin typeface="Roboto Mono Regular Bold"/>
              </a:rPr>
              <a:t> </a:t>
            </a:r>
            <a:r>
              <a:rPr lang="en-US" sz="2700" dirty="0" err="1">
                <a:solidFill>
                  <a:srgbClr val="000000"/>
                </a:solidFill>
                <a:latin typeface="Roboto Mono Regular Bold"/>
              </a:rPr>
              <a:t>pulau</a:t>
            </a:r>
            <a:r>
              <a:rPr lang="en-US" sz="2700" dirty="0">
                <a:solidFill>
                  <a:srgbClr val="000000"/>
                </a:solidFill>
                <a:latin typeface="Roboto Mono Regular Bold"/>
              </a:rPr>
              <a:t> </a:t>
            </a:r>
            <a:r>
              <a:rPr lang="en-US" sz="2700" dirty="0" err="1">
                <a:solidFill>
                  <a:srgbClr val="000000"/>
                </a:solidFill>
                <a:latin typeface="Roboto Mono Regular Bold"/>
              </a:rPr>
              <a:t>atau</a:t>
            </a:r>
            <a:r>
              <a:rPr lang="en-US" sz="2700" dirty="0">
                <a:solidFill>
                  <a:srgbClr val="000000"/>
                </a:solidFill>
                <a:latin typeface="Roboto Mono Regular Bold"/>
              </a:rPr>
              <a:t> </a:t>
            </a:r>
            <a:r>
              <a:rPr lang="en-US" sz="2700" dirty="0" err="1">
                <a:solidFill>
                  <a:srgbClr val="000000"/>
                </a:solidFill>
                <a:latin typeface="Roboto Mono Regular Bold"/>
              </a:rPr>
              <a:t>kepulauan</a:t>
            </a:r>
            <a:r>
              <a:rPr lang="en-US" sz="2700" dirty="0">
                <a:solidFill>
                  <a:srgbClr val="000000"/>
                </a:solidFill>
                <a:latin typeface="Roboto Mono Regular Bold"/>
              </a:rPr>
              <a:t>. </a:t>
            </a:r>
            <a:r>
              <a:rPr lang="en-US" sz="2700" dirty="0" err="1">
                <a:solidFill>
                  <a:srgbClr val="000000"/>
                </a:solidFill>
                <a:latin typeface="Roboto Mono Regular Bold"/>
              </a:rPr>
              <a:t>Sedangkan</a:t>
            </a:r>
            <a:r>
              <a:rPr lang="en-US" sz="2700" dirty="0">
                <a:solidFill>
                  <a:srgbClr val="000000"/>
                </a:solidFill>
                <a:latin typeface="Roboto Mono Regular Bold"/>
              </a:rPr>
              <a:t> </a:t>
            </a:r>
            <a:r>
              <a:rPr lang="en-US" sz="2700" dirty="0" err="1">
                <a:solidFill>
                  <a:srgbClr val="000000"/>
                </a:solidFill>
                <a:latin typeface="Roboto Mono Regular Bold"/>
              </a:rPr>
              <a:t>dalam</a:t>
            </a:r>
            <a:r>
              <a:rPr lang="en-US" sz="2700" dirty="0">
                <a:solidFill>
                  <a:srgbClr val="000000"/>
                </a:solidFill>
                <a:latin typeface="Roboto Mono Regular Bold"/>
              </a:rPr>
              <a:t> </a:t>
            </a:r>
            <a:r>
              <a:rPr lang="en-US" sz="2700" dirty="0" err="1">
                <a:solidFill>
                  <a:srgbClr val="000000"/>
                </a:solidFill>
                <a:latin typeface="Roboto Mono Regular Bold"/>
              </a:rPr>
              <a:t>Bahasa</a:t>
            </a:r>
            <a:r>
              <a:rPr lang="en-US" sz="2700" dirty="0">
                <a:solidFill>
                  <a:srgbClr val="000000"/>
                </a:solidFill>
                <a:latin typeface="Roboto Mono Regular Bold"/>
              </a:rPr>
              <a:t> Latin kata </a:t>
            </a:r>
            <a:r>
              <a:rPr lang="en-US" sz="2700" dirty="0" err="1">
                <a:solidFill>
                  <a:srgbClr val="000000"/>
                </a:solidFill>
                <a:latin typeface="Roboto Mono Regular Bold"/>
              </a:rPr>
              <a:t>nusa</a:t>
            </a:r>
            <a:r>
              <a:rPr lang="en-US" sz="2700" dirty="0">
                <a:solidFill>
                  <a:srgbClr val="000000"/>
                </a:solidFill>
                <a:latin typeface="Roboto Mono Regular Bold"/>
              </a:rPr>
              <a:t> </a:t>
            </a:r>
            <a:r>
              <a:rPr lang="en-US" sz="2700" dirty="0" err="1">
                <a:solidFill>
                  <a:srgbClr val="000000"/>
                </a:solidFill>
                <a:latin typeface="Roboto Mono Regular Bold"/>
              </a:rPr>
              <a:t>berasal</a:t>
            </a:r>
            <a:r>
              <a:rPr lang="en-US" sz="2700" dirty="0">
                <a:solidFill>
                  <a:srgbClr val="000000"/>
                </a:solidFill>
                <a:latin typeface="Roboto Mono Regular Bold"/>
              </a:rPr>
              <a:t> </a:t>
            </a:r>
            <a:r>
              <a:rPr lang="en-US" sz="2700" dirty="0" err="1">
                <a:solidFill>
                  <a:srgbClr val="000000"/>
                </a:solidFill>
                <a:latin typeface="Roboto Mono Regular Bold"/>
              </a:rPr>
              <a:t>dari</a:t>
            </a:r>
            <a:r>
              <a:rPr lang="en-US" sz="2700" dirty="0">
                <a:solidFill>
                  <a:srgbClr val="000000"/>
                </a:solidFill>
                <a:latin typeface="Roboto Mono Regular Bold"/>
              </a:rPr>
              <a:t> kata </a:t>
            </a:r>
            <a:r>
              <a:rPr lang="en-US" sz="2700" dirty="0" err="1">
                <a:solidFill>
                  <a:srgbClr val="000000"/>
                </a:solidFill>
                <a:latin typeface="Roboto Mono Regular Bold"/>
              </a:rPr>
              <a:t>nesos</a:t>
            </a:r>
            <a:r>
              <a:rPr lang="en-US" sz="2700" dirty="0">
                <a:solidFill>
                  <a:srgbClr val="000000"/>
                </a:solidFill>
                <a:latin typeface="Roboto Mono Regular Bold"/>
              </a:rPr>
              <a:t> yang </a:t>
            </a:r>
            <a:r>
              <a:rPr lang="en-US" sz="2700" dirty="0" err="1">
                <a:solidFill>
                  <a:srgbClr val="000000"/>
                </a:solidFill>
                <a:latin typeface="Roboto Mono Regular Bold"/>
              </a:rPr>
              <a:t>berarti</a:t>
            </a:r>
            <a:r>
              <a:rPr lang="en-US" sz="2700" dirty="0">
                <a:solidFill>
                  <a:srgbClr val="000000"/>
                </a:solidFill>
                <a:latin typeface="Roboto Mono Regular Bold"/>
              </a:rPr>
              <a:t> </a:t>
            </a:r>
            <a:r>
              <a:rPr lang="en-US" sz="2700" dirty="0" err="1">
                <a:solidFill>
                  <a:srgbClr val="000000"/>
                </a:solidFill>
                <a:latin typeface="Roboto Mono Regular Bold"/>
              </a:rPr>
              <a:t>semenjanung</a:t>
            </a:r>
            <a:r>
              <a:rPr lang="en-US" sz="2700" dirty="0">
                <a:solidFill>
                  <a:srgbClr val="000000"/>
                </a:solidFill>
                <a:latin typeface="Roboto Mono Regular Bold"/>
              </a:rPr>
              <a:t> </a:t>
            </a:r>
            <a:r>
              <a:rPr lang="en-US" sz="2700" dirty="0" err="1">
                <a:solidFill>
                  <a:srgbClr val="000000"/>
                </a:solidFill>
                <a:latin typeface="Roboto Mono Regular Bold"/>
              </a:rPr>
              <a:t>bahkan</a:t>
            </a:r>
            <a:r>
              <a:rPr lang="en-US" sz="2700" dirty="0">
                <a:solidFill>
                  <a:srgbClr val="000000"/>
                </a:solidFill>
                <a:latin typeface="Roboto Mono Regular Bold"/>
              </a:rPr>
              <a:t> </a:t>
            </a:r>
            <a:r>
              <a:rPr lang="en-US" sz="2700" dirty="0" err="1">
                <a:solidFill>
                  <a:srgbClr val="000000"/>
                </a:solidFill>
                <a:latin typeface="Roboto Mono Regular Bold"/>
              </a:rPr>
              <a:t>suatu</a:t>
            </a:r>
            <a:r>
              <a:rPr lang="en-US" sz="2700" dirty="0">
                <a:solidFill>
                  <a:srgbClr val="000000"/>
                </a:solidFill>
                <a:latin typeface="Roboto Mono Regular Bold"/>
              </a:rPr>
              <a:t> </a:t>
            </a:r>
            <a:r>
              <a:rPr lang="en-US" sz="2700" dirty="0" err="1">
                <a:solidFill>
                  <a:srgbClr val="000000"/>
                </a:solidFill>
                <a:latin typeface="Roboto Mono Regular Bold"/>
              </a:rPr>
              <a:t>bangsa</a:t>
            </a:r>
            <a:r>
              <a:rPr lang="en-US" sz="2700" dirty="0">
                <a:solidFill>
                  <a:srgbClr val="000000"/>
                </a:solidFill>
                <a:latin typeface="Roboto Mono Regular Bold"/>
              </a:rPr>
              <a:t>. </a:t>
            </a:r>
            <a:r>
              <a:rPr lang="en-US" sz="2700" dirty="0" err="1">
                <a:solidFill>
                  <a:srgbClr val="000000"/>
                </a:solidFill>
                <a:latin typeface="Roboto Mono Regular Bold"/>
              </a:rPr>
              <a:t>Merujuk</a:t>
            </a:r>
            <a:r>
              <a:rPr lang="en-US" sz="2700" dirty="0">
                <a:solidFill>
                  <a:srgbClr val="000000"/>
                </a:solidFill>
                <a:latin typeface="Roboto Mono Regular Bold"/>
              </a:rPr>
              <a:t> </a:t>
            </a:r>
            <a:r>
              <a:rPr lang="en-US" sz="2700" dirty="0" err="1">
                <a:solidFill>
                  <a:srgbClr val="000000"/>
                </a:solidFill>
                <a:latin typeface="Roboto Mono Regular Bold"/>
              </a:rPr>
              <a:t>pada</a:t>
            </a:r>
            <a:r>
              <a:rPr lang="en-US" sz="2700" dirty="0">
                <a:solidFill>
                  <a:srgbClr val="000000"/>
                </a:solidFill>
                <a:latin typeface="Roboto Mono Regular Bold"/>
              </a:rPr>
              <a:t> </a:t>
            </a:r>
            <a:r>
              <a:rPr lang="en-US" sz="2700" dirty="0" err="1">
                <a:solidFill>
                  <a:srgbClr val="000000"/>
                </a:solidFill>
                <a:latin typeface="Roboto Mono Regular Bold"/>
              </a:rPr>
              <a:t>pernyataan</a:t>
            </a:r>
            <a:r>
              <a:rPr lang="en-US" sz="2700" dirty="0">
                <a:solidFill>
                  <a:srgbClr val="000000"/>
                </a:solidFill>
                <a:latin typeface="Roboto Mono Regular Bold"/>
              </a:rPr>
              <a:t> </a:t>
            </a:r>
            <a:r>
              <a:rPr lang="en-US" sz="2700" dirty="0" err="1">
                <a:solidFill>
                  <a:srgbClr val="000000"/>
                </a:solidFill>
                <a:latin typeface="Roboto Mono Regular Bold"/>
              </a:rPr>
              <a:t>tersebut</a:t>
            </a:r>
            <a:r>
              <a:rPr lang="en-US" sz="2700" dirty="0">
                <a:solidFill>
                  <a:srgbClr val="000000"/>
                </a:solidFill>
                <a:latin typeface="Roboto Mono Regular Bold"/>
              </a:rPr>
              <a:t> </a:t>
            </a:r>
            <a:r>
              <a:rPr lang="en-US" sz="2700" dirty="0" err="1">
                <a:solidFill>
                  <a:srgbClr val="000000"/>
                </a:solidFill>
                <a:latin typeface="Roboto Mono Regular Bold"/>
              </a:rPr>
              <a:t>maka</a:t>
            </a:r>
            <a:r>
              <a:rPr lang="en-US" sz="2700" dirty="0">
                <a:solidFill>
                  <a:srgbClr val="000000"/>
                </a:solidFill>
                <a:latin typeface="Roboto Mono Regular Bold"/>
              </a:rPr>
              <a:t> </a:t>
            </a:r>
            <a:r>
              <a:rPr lang="en-US" sz="2700" dirty="0" err="1">
                <a:solidFill>
                  <a:srgbClr val="000000"/>
                </a:solidFill>
                <a:latin typeface="Roboto Mono Regular Bold"/>
              </a:rPr>
              <a:t>nusa</a:t>
            </a:r>
            <a:r>
              <a:rPr lang="en-US" sz="2700" dirty="0">
                <a:solidFill>
                  <a:srgbClr val="000000"/>
                </a:solidFill>
                <a:latin typeface="Roboto Mono Regular Bold"/>
              </a:rPr>
              <a:t> </a:t>
            </a:r>
            <a:r>
              <a:rPr lang="en-US" sz="2700" dirty="0" err="1">
                <a:solidFill>
                  <a:srgbClr val="000000"/>
                </a:solidFill>
                <a:latin typeface="Roboto Mono Regular Bold"/>
              </a:rPr>
              <a:t>juga</a:t>
            </a:r>
            <a:r>
              <a:rPr lang="en-US" sz="2700" dirty="0">
                <a:solidFill>
                  <a:srgbClr val="000000"/>
                </a:solidFill>
                <a:latin typeface="Roboto Mono Regular Bold"/>
              </a:rPr>
              <a:t> </a:t>
            </a:r>
            <a:r>
              <a:rPr lang="en-US" sz="2700" dirty="0" err="1">
                <a:solidFill>
                  <a:srgbClr val="000000"/>
                </a:solidFill>
                <a:latin typeface="Roboto Mono Regular Bold"/>
              </a:rPr>
              <a:t>mempunyai</a:t>
            </a:r>
            <a:r>
              <a:rPr lang="en-US" sz="2700" dirty="0">
                <a:solidFill>
                  <a:srgbClr val="000000"/>
                </a:solidFill>
                <a:latin typeface="Roboto Mono Regular Bold"/>
              </a:rPr>
              <a:t> </a:t>
            </a:r>
            <a:r>
              <a:rPr lang="en-US" sz="2700" dirty="0" err="1">
                <a:solidFill>
                  <a:srgbClr val="000000"/>
                </a:solidFill>
                <a:latin typeface="Roboto Mono Regular Bold"/>
              </a:rPr>
              <a:t>kesamaan</a:t>
            </a:r>
            <a:r>
              <a:rPr lang="en-US" sz="2700" dirty="0">
                <a:solidFill>
                  <a:srgbClr val="000000"/>
                </a:solidFill>
                <a:latin typeface="Roboto Mono Regular Bold"/>
              </a:rPr>
              <a:t> </a:t>
            </a:r>
            <a:r>
              <a:rPr lang="en-US" sz="2700" dirty="0" err="1">
                <a:solidFill>
                  <a:srgbClr val="000000"/>
                </a:solidFill>
                <a:latin typeface="Roboto Mono Regular Bold"/>
              </a:rPr>
              <a:t>arti</a:t>
            </a:r>
            <a:r>
              <a:rPr lang="en-US" sz="2700" dirty="0">
                <a:solidFill>
                  <a:srgbClr val="000000"/>
                </a:solidFill>
                <a:latin typeface="Roboto Mono Regular Bold"/>
              </a:rPr>
              <a:t> </a:t>
            </a:r>
            <a:r>
              <a:rPr lang="en-US" sz="2700" dirty="0" err="1">
                <a:solidFill>
                  <a:srgbClr val="000000"/>
                </a:solidFill>
                <a:latin typeface="Roboto Mono Regular Bold"/>
              </a:rPr>
              <a:t>dengan</a:t>
            </a:r>
            <a:r>
              <a:rPr lang="en-US" sz="2700" dirty="0">
                <a:solidFill>
                  <a:srgbClr val="000000"/>
                </a:solidFill>
                <a:latin typeface="Roboto Mono Regular Bold"/>
              </a:rPr>
              <a:t> kata nation </a:t>
            </a:r>
            <a:r>
              <a:rPr lang="en-US" sz="2700" dirty="0" err="1">
                <a:solidFill>
                  <a:srgbClr val="000000"/>
                </a:solidFill>
                <a:latin typeface="Roboto Mono Regular Bold"/>
              </a:rPr>
              <a:t>dalam</a:t>
            </a:r>
            <a:r>
              <a:rPr lang="en-US" sz="2700" dirty="0">
                <a:solidFill>
                  <a:srgbClr val="000000"/>
                </a:solidFill>
                <a:latin typeface="Roboto Mono Regular Bold"/>
              </a:rPr>
              <a:t> </a:t>
            </a:r>
            <a:r>
              <a:rPr lang="en-US" sz="2700" dirty="0" err="1">
                <a:solidFill>
                  <a:srgbClr val="000000"/>
                </a:solidFill>
                <a:latin typeface="Roboto Mono Regular Bold"/>
              </a:rPr>
              <a:t>Bahasa</a:t>
            </a:r>
            <a:r>
              <a:rPr lang="en-US" sz="2700" dirty="0">
                <a:solidFill>
                  <a:srgbClr val="000000"/>
                </a:solidFill>
                <a:latin typeface="Roboto Mono Regular Bold"/>
              </a:rPr>
              <a:t> </a:t>
            </a:r>
            <a:r>
              <a:rPr lang="en-US" sz="2700" dirty="0" err="1" smtClean="0">
                <a:solidFill>
                  <a:srgbClr val="000000"/>
                </a:solidFill>
                <a:latin typeface="Roboto Mono Regular Bold"/>
              </a:rPr>
              <a:t>Inggris</a:t>
            </a:r>
            <a:r>
              <a:rPr lang="en-US" sz="2700" dirty="0" smtClean="0">
                <a:solidFill>
                  <a:srgbClr val="000000"/>
                </a:solidFill>
                <a:latin typeface="Roboto Mono Regular Bold"/>
              </a:rPr>
              <a:t> </a:t>
            </a:r>
            <a:r>
              <a:rPr lang="en-US" sz="2700" dirty="0">
                <a:solidFill>
                  <a:srgbClr val="000000"/>
                </a:solidFill>
                <a:latin typeface="Roboto Mono Regular Bold"/>
              </a:rPr>
              <a:t>yang </a:t>
            </a:r>
            <a:r>
              <a:rPr lang="en-US" sz="2700" dirty="0" err="1">
                <a:solidFill>
                  <a:srgbClr val="000000"/>
                </a:solidFill>
                <a:latin typeface="Roboto Mono Regular Bold"/>
              </a:rPr>
              <a:t>berarti</a:t>
            </a:r>
            <a:r>
              <a:rPr lang="en-US" sz="2700" dirty="0">
                <a:solidFill>
                  <a:srgbClr val="000000"/>
                </a:solidFill>
                <a:latin typeface="Roboto Mono Regular Bold"/>
              </a:rPr>
              <a:t> </a:t>
            </a:r>
            <a:r>
              <a:rPr lang="en-US" sz="2700" dirty="0" err="1">
                <a:solidFill>
                  <a:srgbClr val="000000"/>
                </a:solidFill>
                <a:latin typeface="Roboto Mono Regular Bold"/>
              </a:rPr>
              <a:t>bangsa</a:t>
            </a:r>
            <a:r>
              <a:rPr lang="en-US" sz="2700" dirty="0">
                <a:solidFill>
                  <a:srgbClr val="000000"/>
                </a:solidFill>
                <a:latin typeface="Roboto Mono Regular Bold"/>
              </a:rPr>
              <a:t>. </a:t>
            </a:r>
            <a:r>
              <a:rPr lang="en-US" sz="2700" dirty="0" err="1">
                <a:solidFill>
                  <a:srgbClr val="000000"/>
                </a:solidFill>
                <a:latin typeface="Roboto Mono Regular Bold"/>
              </a:rPr>
              <a:t>Antara</a:t>
            </a:r>
            <a:r>
              <a:rPr lang="en-US" sz="2700" dirty="0">
                <a:solidFill>
                  <a:srgbClr val="000000"/>
                </a:solidFill>
                <a:latin typeface="Roboto Mono Regular Bold"/>
              </a:rPr>
              <a:t> </a:t>
            </a:r>
            <a:r>
              <a:rPr lang="en-US" sz="2700" dirty="0" err="1">
                <a:solidFill>
                  <a:srgbClr val="000000"/>
                </a:solidFill>
                <a:latin typeface="Roboto Mono Regular Bold"/>
              </a:rPr>
              <a:t>memiliki</a:t>
            </a:r>
            <a:r>
              <a:rPr lang="en-US" sz="2700" dirty="0">
                <a:solidFill>
                  <a:srgbClr val="000000"/>
                </a:solidFill>
                <a:latin typeface="Roboto Mono Regular Bold"/>
              </a:rPr>
              <a:t> </a:t>
            </a:r>
            <a:r>
              <a:rPr lang="en-US" sz="2700" dirty="0" err="1">
                <a:solidFill>
                  <a:srgbClr val="000000"/>
                </a:solidFill>
                <a:latin typeface="Roboto Mono Regular Bold"/>
              </a:rPr>
              <a:t>padanan</a:t>
            </a:r>
            <a:r>
              <a:rPr lang="en-US" sz="2700" dirty="0">
                <a:solidFill>
                  <a:srgbClr val="000000"/>
                </a:solidFill>
                <a:latin typeface="Roboto Mono Regular Bold"/>
              </a:rPr>
              <a:t> </a:t>
            </a:r>
            <a:r>
              <a:rPr lang="en-US" sz="2700" dirty="0" err="1">
                <a:solidFill>
                  <a:srgbClr val="000000"/>
                </a:solidFill>
                <a:latin typeface="Roboto Mono Regular Bold"/>
              </a:rPr>
              <a:t>dalam</a:t>
            </a:r>
            <a:r>
              <a:rPr lang="en-US" sz="2700" dirty="0">
                <a:solidFill>
                  <a:srgbClr val="000000"/>
                </a:solidFill>
                <a:latin typeface="Roboto Mono Regular Bold"/>
              </a:rPr>
              <a:t> </a:t>
            </a:r>
            <a:r>
              <a:rPr lang="en-US" sz="2700" dirty="0" err="1">
                <a:solidFill>
                  <a:srgbClr val="000000"/>
                </a:solidFill>
                <a:latin typeface="Roboto Mono Regular Bold"/>
              </a:rPr>
              <a:t>Bahasa</a:t>
            </a:r>
            <a:r>
              <a:rPr lang="en-US" sz="2700" dirty="0">
                <a:solidFill>
                  <a:srgbClr val="000000"/>
                </a:solidFill>
                <a:latin typeface="Roboto Mono Regular Bold"/>
              </a:rPr>
              <a:t> </a:t>
            </a:r>
            <a:r>
              <a:rPr lang="en-US" sz="2700" dirty="0" err="1">
                <a:solidFill>
                  <a:srgbClr val="000000"/>
                </a:solidFill>
                <a:latin typeface="Roboto Mono Regular Bold"/>
              </a:rPr>
              <a:t>latin</a:t>
            </a:r>
            <a:r>
              <a:rPr lang="en-US" sz="2700" dirty="0">
                <a:solidFill>
                  <a:srgbClr val="000000"/>
                </a:solidFill>
                <a:latin typeface="Roboto Mono Regular Bold"/>
              </a:rPr>
              <a:t> yang </a:t>
            </a:r>
            <a:r>
              <a:rPr lang="en-US" sz="2700" dirty="0" err="1">
                <a:solidFill>
                  <a:srgbClr val="000000"/>
                </a:solidFill>
                <a:latin typeface="Roboto Mono Regular Bold"/>
              </a:rPr>
              <a:t>berarti</a:t>
            </a:r>
            <a:r>
              <a:rPr lang="en-US" sz="2700" dirty="0">
                <a:solidFill>
                  <a:srgbClr val="000000"/>
                </a:solidFill>
                <a:latin typeface="Roboto Mono Regular Bold"/>
              </a:rPr>
              <a:t> </a:t>
            </a:r>
            <a:r>
              <a:rPr lang="en-US" sz="2700" dirty="0" err="1">
                <a:solidFill>
                  <a:srgbClr val="000000"/>
                </a:solidFill>
                <a:latin typeface="Roboto Mono Regular Bold"/>
              </a:rPr>
              <a:t>antara</a:t>
            </a:r>
            <a:r>
              <a:rPr lang="en-US" sz="2700" dirty="0">
                <a:solidFill>
                  <a:srgbClr val="000000"/>
                </a:solidFill>
                <a:latin typeface="Roboto Mono Regular Bold"/>
              </a:rPr>
              <a:t> </a:t>
            </a:r>
            <a:r>
              <a:rPr lang="en-US" sz="2700" dirty="0" err="1">
                <a:solidFill>
                  <a:srgbClr val="000000"/>
                </a:solidFill>
                <a:latin typeface="Roboto Mono Regular Bold"/>
              </a:rPr>
              <a:t>atau</a:t>
            </a:r>
            <a:r>
              <a:rPr lang="en-US" sz="2700" dirty="0">
                <a:solidFill>
                  <a:srgbClr val="000000"/>
                </a:solidFill>
                <a:latin typeface="Roboto Mono Regular Bold"/>
              </a:rPr>
              <a:t> </a:t>
            </a:r>
            <a:r>
              <a:rPr lang="en-US" sz="2700" dirty="0" err="1">
                <a:solidFill>
                  <a:srgbClr val="000000"/>
                </a:solidFill>
                <a:latin typeface="Roboto Mono Regular Bold"/>
              </a:rPr>
              <a:t>dalam</a:t>
            </a:r>
            <a:r>
              <a:rPr lang="en-US" sz="2700" dirty="0">
                <a:solidFill>
                  <a:srgbClr val="000000"/>
                </a:solidFill>
                <a:latin typeface="Roboto Mono Regular Bold"/>
              </a:rPr>
              <a:t> </a:t>
            </a:r>
            <a:r>
              <a:rPr lang="en-US" sz="2700" dirty="0" err="1">
                <a:solidFill>
                  <a:srgbClr val="000000"/>
                </a:solidFill>
                <a:latin typeface="Roboto Mono Regular Bold"/>
              </a:rPr>
              <a:t>satu</a:t>
            </a:r>
            <a:r>
              <a:rPr lang="en-US" sz="2700" dirty="0">
                <a:solidFill>
                  <a:srgbClr val="000000"/>
                </a:solidFill>
                <a:latin typeface="Roboto Mono Regular Bold"/>
              </a:rPr>
              <a:t> </a:t>
            </a:r>
            <a:r>
              <a:rPr lang="en-US" sz="2700" dirty="0" err="1">
                <a:solidFill>
                  <a:srgbClr val="000000"/>
                </a:solidFill>
                <a:latin typeface="Roboto Mono Regular Bold"/>
              </a:rPr>
              <a:t>kelompok</a:t>
            </a:r>
            <a:r>
              <a:rPr lang="en-US" sz="2700" dirty="0">
                <a:solidFill>
                  <a:srgbClr val="000000"/>
                </a:solidFill>
                <a:latin typeface="Roboto Mono Regular Bold"/>
              </a:rPr>
              <a:t> </a:t>
            </a:r>
          </a:p>
          <a:p>
            <a:pPr>
              <a:lnSpc>
                <a:spcPts val="3500"/>
              </a:lnSpc>
            </a:pPr>
            <a:endParaRPr lang="en-US" sz="2700" dirty="0">
              <a:solidFill>
                <a:srgbClr val="000000"/>
              </a:solidFill>
              <a:latin typeface="Roboto Mono Regular Bold"/>
            </a:endParaR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817225">
            <a:off x="17641458" y="-900782"/>
            <a:ext cx="508987" cy="79983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25525"/>
        </a:solidFill>
        <a:effectLst/>
      </p:bgPr>
    </p:bg>
    <p:spTree>
      <p:nvGrpSpPr>
        <p:cNvPr id="1" name=""/>
        <p:cNvGrpSpPr/>
        <p:nvPr/>
      </p:nvGrpSpPr>
      <p:grpSpPr>
        <a:xfrm>
          <a:off x="0" y="0"/>
          <a:ext cx="0" cy="0"/>
          <a:chOff x="0" y="0"/>
          <a:chExt cx="0" cy="0"/>
        </a:xfrm>
      </p:grpSpPr>
      <p:grpSp>
        <p:nvGrpSpPr>
          <p:cNvPr id="2" name="Group 2"/>
          <p:cNvGrpSpPr/>
          <p:nvPr/>
        </p:nvGrpSpPr>
        <p:grpSpPr>
          <a:xfrm>
            <a:off x="734471" y="1827138"/>
            <a:ext cx="15972381" cy="9229973"/>
            <a:chOff x="0" y="0"/>
            <a:chExt cx="5490351" cy="3172714"/>
          </a:xfrm>
        </p:grpSpPr>
        <p:sp>
          <p:nvSpPr>
            <p:cNvPr id="3" name="Freeform 3"/>
            <p:cNvSpPr/>
            <p:nvPr/>
          </p:nvSpPr>
          <p:spPr>
            <a:xfrm>
              <a:off x="0" y="0"/>
              <a:ext cx="5490351" cy="3172714"/>
            </a:xfrm>
            <a:custGeom>
              <a:avLst/>
              <a:gdLst/>
              <a:ahLst/>
              <a:cxnLst/>
              <a:rect l="l" t="t" r="r" b="b"/>
              <a:pathLst>
                <a:path w="5490351" h="3172714">
                  <a:moveTo>
                    <a:pt x="5365891" y="3172714"/>
                  </a:moveTo>
                  <a:lnTo>
                    <a:pt x="124460" y="3172714"/>
                  </a:lnTo>
                  <a:cubicBezTo>
                    <a:pt x="55880" y="3172714"/>
                    <a:pt x="0" y="3116834"/>
                    <a:pt x="0" y="3048254"/>
                  </a:cubicBezTo>
                  <a:lnTo>
                    <a:pt x="0" y="124460"/>
                  </a:lnTo>
                  <a:cubicBezTo>
                    <a:pt x="0" y="55880"/>
                    <a:pt x="55880" y="0"/>
                    <a:pt x="124460" y="0"/>
                  </a:cubicBezTo>
                  <a:lnTo>
                    <a:pt x="5365891" y="0"/>
                  </a:lnTo>
                  <a:cubicBezTo>
                    <a:pt x="5434471" y="0"/>
                    <a:pt x="5490351" y="55880"/>
                    <a:pt x="5490351" y="124460"/>
                  </a:cubicBezTo>
                  <a:lnTo>
                    <a:pt x="5490351" y="3048254"/>
                  </a:lnTo>
                  <a:cubicBezTo>
                    <a:pt x="5490351" y="3116834"/>
                    <a:pt x="5434471" y="3172714"/>
                    <a:pt x="5365891" y="3172714"/>
                  </a:cubicBezTo>
                  <a:close/>
                </a:path>
              </a:pathLst>
            </a:custGeom>
            <a:solidFill>
              <a:srgbClr val="FFFBEC"/>
            </a:solidFill>
          </p:spPr>
        </p:sp>
      </p:grpSp>
      <p:grpSp>
        <p:nvGrpSpPr>
          <p:cNvPr id="4" name="Group 4"/>
          <p:cNvGrpSpPr/>
          <p:nvPr/>
        </p:nvGrpSpPr>
        <p:grpSpPr>
          <a:xfrm rot="-10800000">
            <a:off x="1433554" y="1123950"/>
            <a:ext cx="5939862" cy="929058"/>
            <a:chOff x="0" y="0"/>
            <a:chExt cx="38779425" cy="6065520"/>
          </a:xfrm>
        </p:grpSpPr>
        <p:sp>
          <p:nvSpPr>
            <p:cNvPr id="5" name="Freeform 5"/>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D25525"/>
            </a:solidFill>
          </p:spPr>
        </p:sp>
      </p:grpSp>
      <p:grpSp>
        <p:nvGrpSpPr>
          <p:cNvPr id="6" name="Group 6"/>
          <p:cNvGrpSpPr/>
          <p:nvPr/>
        </p:nvGrpSpPr>
        <p:grpSpPr>
          <a:xfrm>
            <a:off x="1703426" y="1588479"/>
            <a:ext cx="15555874" cy="9381757"/>
            <a:chOff x="0" y="0"/>
            <a:chExt cx="20741165" cy="12509009"/>
          </a:xfrm>
        </p:grpSpPr>
        <p:grpSp>
          <p:nvGrpSpPr>
            <p:cNvPr id="7" name="Group 7"/>
            <p:cNvGrpSpPr/>
            <p:nvPr/>
          </p:nvGrpSpPr>
          <p:grpSpPr>
            <a:xfrm>
              <a:off x="0" y="1142541"/>
              <a:ext cx="20741165" cy="11366468"/>
              <a:chOff x="0" y="0"/>
              <a:chExt cx="5490351" cy="3008794"/>
            </a:xfrm>
          </p:grpSpPr>
          <p:sp>
            <p:nvSpPr>
              <p:cNvPr id="8" name="Freeform 8"/>
              <p:cNvSpPr/>
              <p:nvPr/>
            </p:nvSpPr>
            <p:spPr>
              <a:xfrm>
                <a:off x="0" y="0"/>
                <a:ext cx="5490351" cy="3008794"/>
              </a:xfrm>
              <a:custGeom>
                <a:avLst/>
                <a:gdLst/>
                <a:ahLst/>
                <a:cxnLst/>
                <a:rect l="l" t="t" r="r" b="b"/>
                <a:pathLst>
                  <a:path w="5490351" h="3008794">
                    <a:moveTo>
                      <a:pt x="5365891" y="3008794"/>
                    </a:moveTo>
                    <a:lnTo>
                      <a:pt x="124460" y="3008794"/>
                    </a:lnTo>
                    <a:cubicBezTo>
                      <a:pt x="55880" y="3008794"/>
                      <a:pt x="0" y="2952914"/>
                      <a:pt x="0" y="2884334"/>
                    </a:cubicBezTo>
                    <a:lnTo>
                      <a:pt x="0" y="124460"/>
                    </a:lnTo>
                    <a:cubicBezTo>
                      <a:pt x="0" y="55880"/>
                      <a:pt x="55880" y="0"/>
                      <a:pt x="124460" y="0"/>
                    </a:cubicBezTo>
                    <a:lnTo>
                      <a:pt x="5365891" y="0"/>
                    </a:lnTo>
                    <a:cubicBezTo>
                      <a:pt x="5434471" y="0"/>
                      <a:pt x="5490351" y="55880"/>
                      <a:pt x="5490351" y="124460"/>
                    </a:cubicBezTo>
                    <a:lnTo>
                      <a:pt x="5490351" y="2884334"/>
                    </a:lnTo>
                    <a:cubicBezTo>
                      <a:pt x="5490351" y="2952914"/>
                      <a:pt x="5434471" y="3008794"/>
                      <a:pt x="5365891" y="3008794"/>
                    </a:cubicBezTo>
                    <a:close/>
                  </a:path>
                </a:pathLst>
              </a:custGeom>
              <a:solidFill>
                <a:srgbClr val="F89D2F"/>
              </a:solidFill>
            </p:spPr>
          </p:sp>
        </p:grpSp>
        <p:grpSp>
          <p:nvGrpSpPr>
            <p:cNvPr id="9" name="Group 9"/>
            <p:cNvGrpSpPr/>
            <p:nvPr/>
          </p:nvGrpSpPr>
          <p:grpSpPr>
            <a:xfrm rot="-10800000">
              <a:off x="10688424" y="0"/>
              <a:ext cx="8880221" cy="1388962"/>
              <a:chOff x="0" y="0"/>
              <a:chExt cx="38779425" cy="6065520"/>
            </a:xfrm>
          </p:grpSpPr>
          <p:sp>
            <p:nvSpPr>
              <p:cNvPr id="10" name="Freeform 10"/>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89D2F"/>
              </a:solidFill>
            </p:spPr>
          </p:sp>
        </p:grpSp>
      </p:gr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332594">
            <a:off x="-652782" y="6959519"/>
            <a:ext cx="3362963" cy="3186408"/>
          </a:xfrm>
          <a:prstGeom prst="rect">
            <a:avLst/>
          </a:prstGeom>
        </p:spPr>
      </p:pic>
      <p:sp>
        <p:nvSpPr>
          <p:cNvPr id="12" name="TextBox 12"/>
          <p:cNvSpPr txBox="1"/>
          <p:nvPr/>
        </p:nvSpPr>
        <p:spPr>
          <a:xfrm>
            <a:off x="2645822" y="3874820"/>
            <a:ext cx="13671083" cy="5067935"/>
          </a:xfrm>
          <a:prstGeom prst="rect">
            <a:avLst/>
          </a:prstGeom>
        </p:spPr>
        <p:txBody>
          <a:bodyPr lIns="0" tIns="0" rIns="0" bIns="0" rtlCol="0" anchor="t">
            <a:spAutoFit/>
          </a:bodyPr>
          <a:lstStyle/>
          <a:p>
            <a:pPr>
              <a:lnSpc>
                <a:spcPts val="4619"/>
              </a:lnSpc>
            </a:pPr>
            <a:r>
              <a:rPr lang="en-US" sz="3299">
                <a:solidFill>
                  <a:srgbClr val="000000"/>
                </a:solidFill>
                <a:latin typeface="Roboto Mono Regular Bold"/>
              </a:rPr>
              <a:t>Kata nusantara sendiri secara historis bermula dari bunyi Sumpah Palapa dari Patih Gajah Mada yang diucapkan dalam upacara pengangkatannya sebagai Mahapatih di kerajaan Majapahit tahun 1336 M. Penamaan nusantara ini berdasarkan sudut pandang Majapahit (Jawa). Dalam kitab Negarakertagama karangan Empu Tantular, arti nusantara ialah pulau pulau di luar Jawa dengan Majapahit sebagai ibukotanya</a:t>
            </a:r>
          </a:p>
          <a:p>
            <a:pPr>
              <a:lnSpc>
                <a:spcPts val="3500"/>
              </a:lnSpc>
            </a:pPr>
            <a:endParaRPr lang="en-US" sz="3299">
              <a:solidFill>
                <a:srgbClr val="000000"/>
              </a:solidFill>
              <a:latin typeface="Roboto Mono Regular Bold"/>
            </a:endParaR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817225">
            <a:off x="17641458" y="-900782"/>
            <a:ext cx="508987" cy="799837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9D2F"/>
        </a:solidFill>
        <a:effectLst/>
      </p:bgPr>
    </p:bg>
    <p:spTree>
      <p:nvGrpSpPr>
        <p:cNvPr id="1" name=""/>
        <p:cNvGrpSpPr/>
        <p:nvPr/>
      </p:nvGrpSpPr>
      <p:grpSpPr>
        <a:xfrm>
          <a:off x="0" y="0"/>
          <a:ext cx="0" cy="0"/>
          <a:chOff x="0" y="0"/>
          <a:chExt cx="0" cy="0"/>
        </a:xfrm>
      </p:grpSpPr>
      <p:grpSp>
        <p:nvGrpSpPr>
          <p:cNvPr id="2" name="Group 2"/>
          <p:cNvGrpSpPr/>
          <p:nvPr/>
        </p:nvGrpSpPr>
        <p:grpSpPr>
          <a:xfrm>
            <a:off x="734471" y="1827138"/>
            <a:ext cx="15972381" cy="9229973"/>
            <a:chOff x="0" y="0"/>
            <a:chExt cx="5490351" cy="3172714"/>
          </a:xfrm>
        </p:grpSpPr>
        <p:sp>
          <p:nvSpPr>
            <p:cNvPr id="3" name="Freeform 3"/>
            <p:cNvSpPr/>
            <p:nvPr/>
          </p:nvSpPr>
          <p:spPr>
            <a:xfrm>
              <a:off x="0" y="0"/>
              <a:ext cx="5490351" cy="3172714"/>
            </a:xfrm>
            <a:custGeom>
              <a:avLst/>
              <a:gdLst/>
              <a:ahLst/>
              <a:cxnLst/>
              <a:rect l="l" t="t" r="r" b="b"/>
              <a:pathLst>
                <a:path w="5490351" h="3172714">
                  <a:moveTo>
                    <a:pt x="5365891" y="3172714"/>
                  </a:moveTo>
                  <a:lnTo>
                    <a:pt x="124460" y="3172714"/>
                  </a:lnTo>
                  <a:cubicBezTo>
                    <a:pt x="55880" y="3172714"/>
                    <a:pt x="0" y="3116834"/>
                    <a:pt x="0" y="3048254"/>
                  </a:cubicBezTo>
                  <a:lnTo>
                    <a:pt x="0" y="124460"/>
                  </a:lnTo>
                  <a:cubicBezTo>
                    <a:pt x="0" y="55880"/>
                    <a:pt x="55880" y="0"/>
                    <a:pt x="124460" y="0"/>
                  </a:cubicBezTo>
                  <a:lnTo>
                    <a:pt x="5365891" y="0"/>
                  </a:lnTo>
                  <a:cubicBezTo>
                    <a:pt x="5434471" y="0"/>
                    <a:pt x="5490351" y="55880"/>
                    <a:pt x="5490351" y="124460"/>
                  </a:cubicBezTo>
                  <a:lnTo>
                    <a:pt x="5490351" y="3048254"/>
                  </a:lnTo>
                  <a:cubicBezTo>
                    <a:pt x="5490351" y="3116834"/>
                    <a:pt x="5434471" y="3172714"/>
                    <a:pt x="5365891" y="3172714"/>
                  </a:cubicBezTo>
                  <a:close/>
                </a:path>
              </a:pathLst>
            </a:custGeom>
            <a:solidFill>
              <a:srgbClr val="D25525"/>
            </a:solidFill>
          </p:spPr>
        </p:sp>
      </p:grpSp>
      <p:grpSp>
        <p:nvGrpSpPr>
          <p:cNvPr id="4" name="Group 4"/>
          <p:cNvGrpSpPr/>
          <p:nvPr/>
        </p:nvGrpSpPr>
        <p:grpSpPr>
          <a:xfrm rot="-10800000">
            <a:off x="1433554" y="1123950"/>
            <a:ext cx="5939862" cy="929058"/>
            <a:chOff x="0" y="0"/>
            <a:chExt cx="38779425" cy="6065520"/>
          </a:xfrm>
        </p:grpSpPr>
        <p:sp>
          <p:nvSpPr>
            <p:cNvPr id="5" name="Freeform 5"/>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D25525"/>
            </a:solidFill>
          </p:spPr>
        </p:sp>
      </p:grpSp>
      <p:grpSp>
        <p:nvGrpSpPr>
          <p:cNvPr id="6" name="Group 6"/>
          <p:cNvGrpSpPr/>
          <p:nvPr/>
        </p:nvGrpSpPr>
        <p:grpSpPr>
          <a:xfrm>
            <a:off x="1703426" y="1588479"/>
            <a:ext cx="15555874" cy="9381757"/>
            <a:chOff x="0" y="0"/>
            <a:chExt cx="20741165" cy="12509009"/>
          </a:xfrm>
        </p:grpSpPr>
        <p:grpSp>
          <p:nvGrpSpPr>
            <p:cNvPr id="7" name="Group 7"/>
            <p:cNvGrpSpPr/>
            <p:nvPr/>
          </p:nvGrpSpPr>
          <p:grpSpPr>
            <a:xfrm>
              <a:off x="0" y="1142541"/>
              <a:ext cx="20741165" cy="11366468"/>
              <a:chOff x="0" y="0"/>
              <a:chExt cx="5490351" cy="3008794"/>
            </a:xfrm>
          </p:grpSpPr>
          <p:sp>
            <p:nvSpPr>
              <p:cNvPr id="8" name="Freeform 8"/>
              <p:cNvSpPr/>
              <p:nvPr/>
            </p:nvSpPr>
            <p:spPr>
              <a:xfrm>
                <a:off x="0" y="0"/>
                <a:ext cx="5490351" cy="3008794"/>
              </a:xfrm>
              <a:custGeom>
                <a:avLst/>
                <a:gdLst/>
                <a:ahLst/>
                <a:cxnLst/>
                <a:rect l="l" t="t" r="r" b="b"/>
                <a:pathLst>
                  <a:path w="5490351" h="3008794">
                    <a:moveTo>
                      <a:pt x="5365891" y="3008794"/>
                    </a:moveTo>
                    <a:lnTo>
                      <a:pt x="124460" y="3008794"/>
                    </a:lnTo>
                    <a:cubicBezTo>
                      <a:pt x="55880" y="3008794"/>
                      <a:pt x="0" y="2952914"/>
                      <a:pt x="0" y="2884334"/>
                    </a:cubicBezTo>
                    <a:lnTo>
                      <a:pt x="0" y="124460"/>
                    </a:lnTo>
                    <a:cubicBezTo>
                      <a:pt x="0" y="55880"/>
                      <a:pt x="55880" y="0"/>
                      <a:pt x="124460" y="0"/>
                    </a:cubicBezTo>
                    <a:lnTo>
                      <a:pt x="5365891" y="0"/>
                    </a:lnTo>
                    <a:cubicBezTo>
                      <a:pt x="5434471" y="0"/>
                      <a:pt x="5490351" y="55880"/>
                      <a:pt x="5490351" y="124460"/>
                    </a:cubicBezTo>
                    <a:lnTo>
                      <a:pt x="5490351" y="2884334"/>
                    </a:lnTo>
                    <a:cubicBezTo>
                      <a:pt x="5490351" y="2952914"/>
                      <a:pt x="5434471" y="3008794"/>
                      <a:pt x="5365891" y="3008794"/>
                    </a:cubicBezTo>
                    <a:close/>
                  </a:path>
                </a:pathLst>
              </a:custGeom>
              <a:solidFill>
                <a:srgbClr val="FFFBEC"/>
              </a:solidFill>
            </p:spPr>
          </p:sp>
        </p:grpSp>
        <p:grpSp>
          <p:nvGrpSpPr>
            <p:cNvPr id="9" name="Group 9"/>
            <p:cNvGrpSpPr/>
            <p:nvPr/>
          </p:nvGrpSpPr>
          <p:grpSpPr>
            <a:xfrm rot="-10800000">
              <a:off x="10688424" y="0"/>
              <a:ext cx="8880221" cy="1388962"/>
              <a:chOff x="0" y="0"/>
              <a:chExt cx="38779425" cy="6065520"/>
            </a:xfrm>
          </p:grpSpPr>
          <p:sp>
            <p:nvSpPr>
              <p:cNvPr id="10" name="Freeform 10"/>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FFBEC"/>
              </a:solidFill>
            </p:spPr>
          </p:sp>
        </p:grpSp>
      </p:gr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332594">
            <a:off x="-652782" y="6959519"/>
            <a:ext cx="3362963" cy="3186408"/>
          </a:xfrm>
          <a:prstGeom prst="rect">
            <a:avLst/>
          </a:prstGeom>
        </p:spPr>
      </p:pic>
      <p:sp>
        <p:nvSpPr>
          <p:cNvPr id="12" name="TextBox 12"/>
          <p:cNvSpPr txBox="1"/>
          <p:nvPr/>
        </p:nvSpPr>
        <p:spPr>
          <a:xfrm>
            <a:off x="2645822" y="2907715"/>
            <a:ext cx="13671083" cy="7011670"/>
          </a:xfrm>
          <a:prstGeom prst="rect">
            <a:avLst/>
          </a:prstGeom>
        </p:spPr>
        <p:txBody>
          <a:bodyPr lIns="0" tIns="0" rIns="0" bIns="0" rtlCol="0" anchor="t">
            <a:spAutoFit/>
          </a:bodyPr>
          <a:lstStyle/>
          <a:p>
            <a:pPr>
              <a:lnSpc>
                <a:spcPts val="4339"/>
              </a:lnSpc>
            </a:pPr>
            <a:r>
              <a:rPr lang="en-US" sz="3099">
                <a:solidFill>
                  <a:srgbClr val="000000"/>
                </a:solidFill>
                <a:latin typeface="Roboto Mono Regular Bold"/>
              </a:rPr>
              <a:t>Selanjutnya kata Nusantara digunakan oleh Ki Hajar Dewantara untuk menggantikan sebutan Hindia Belanda (Nederlansch-Indie). Pada acara Kongres Pemuda Indonesia II tahun 1928 (Peristiwa Sumpah Pemuda), digunakan istilah Indonesia sebagai pengganti Nusantara. Nama Indonesia berasal dari dua Bahasa Yunani yaitu indo/indu yang berarti Hindu/Hindia dan nesia/nesos yang berarti pulau. Dengan demikian kata nusantara dipakai sebagai sinonim kata Indonesia yang menunjuk pada wilayah (sebaran pulau pulau) yang berada di antara dua samudra yaitu Samudra Hindia dan Samudra Pasifik dan dua benua yaitu Benua Asia dan Benua Australia</a:t>
            </a:r>
          </a:p>
          <a:p>
            <a:pPr>
              <a:lnSpc>
                <a:spcPts val="3500"/>
              </a:lnSpc>
            </a:pPr>
            <a:endParaRPr lang="en-US" sz="3099">
              <a:solidFill>
                <a:srgbClr val="000000"/>
              </a:solidFill>
              <a:latin typeface="Roboto Mono Regular Bold"/>
            </a:endParaR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817225">
            <a:off x="17641458" y="-900782"/>
            <a:ext cx="508987" cy="79983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BCEBF"/>
        </a:solidFill>
        <a:effectLst/>
      </p:bgPr>
    </p:bg>
    <p:spTree>
      <p:nvGrpSpPr>
        <p:cNvPr id="1" name=""/>
        <p:cNvGrpSpPr/>
        <p:nvPr/>
      </p:nvGrpSpPr>
      <p:grpSpPr>
        <a:xfrm>
          <a:off x="0" y="0"/>
          <a:ext cx="0" cy="0"/>
          <a:chOff x="0" y="0"/>
          <a:chExt cx="0" cy="0"/>
        </a:xfrm>
      </p:grpSpPr>
      <p:sp>
        <p:nvSpPr>
          <p:cNvPr id="2" name="AutoShape 2"/>
          <p:cNvSpPr/>
          <p:nvPr/>
        </p:nvSpPr>
        <p:spPr>
          <a:xfrm>
            <a:off x="1028700" y="1704816"/>
            <a:ext cx="16230600" cy="8582184"/>
          </a:xfrm>
          <a:prstGeom prst="rect">
            <a:avLst/>
          </a:prstGeom>
          <a:solidFill>
            <a:srgbClr val="FFFBEC"/>
          </a:solidFill>
        </p:spPr>
      </p:sp>
      <p:sp>
        <p:nvSpPr>
          <p:cNvPr id="3" name="TextBox 3"/>
          <p:cNvSpPr txBox="1"/>
          <p:nvPr/>
        </p:nvSpPr>
        <p:spPr>
          <a:xfrm>
            <a:off x="1805893" y="2447652"/>
            <a:ext cx="14676214" cy="835830"/>
          </a:xfrm>
          <a:prstGeom prst="rect">
            <a:avLst/>
          </a:prstGeom>
        </p:spPr>
        <p:txBody>
          <a:bodyPr lIns="0" tIns="0" rIns="0" bIns="0" rtlCol="0" anchor="t">
            <a:spAutoFit/>
          </a:bodyPr>
          <a:lstStyle/>
          <a:p>
            <a:pPr algn="ctr">
              <a:lnSpc>
                <a:spcPts val="6506"/>
              </a:lnSpc>
            </a:pPr>
            <a:r>
              <a:rPr lang="en-US" sz="5421">
                <a:solidFill>
                  <a:srgbClr val="000000"/>
                </a:solidFill>
                <a:latin typeface="Roboto Mono Regular Bold"/>
              </a:rPr>
              <a:t>WASANTARA : PENGERTIAN TERMINOLOGIS</a:t>
            </a: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649050">
            <a:off x="17792275" y="2044477"/>
            <a:ext cx="991450" cy="7902863"/>
          </a:xfrm>
          <a:prstGeom prst="rect">
            <a:avLst/>
          </a:prstGeom>
        </p:spPr>
      </p:pic>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7962055" y="-355200"/>
            <a:ext cx="2363891" cy="2376856"/>
          </a:xfrm>
          <a:prstGeom prst="rect">
            <a:avLst/>
          </a:prstGeom>
        </p:spPr>
      </p:pic>
      <p:sp>
        <p:nvSpPr>
          <p:cNvPr id="7" name="TextBox 7"/>
          <p:cNvSpPr txBox="1"/>
          <p:nvPr/>
        </p:nvSpPr>
        <p:spPr>
          <a:xfrm>
            <a:off x="2308459" y="3958590"/>
            <a:ext cx="13671083" cy="5365750"/>
          </a:xfrm>
          <a:prstGeom prst="rect">
            <a:avLst/>
          </a:prstGeom>
        </p:spPr>
        <p:txBody>
          <a:bodyPr lIns="0" tIns="0" rIns="0" bIns="0" rtlCol="0" anchor="t">
            <a:spAutoFit/>
          </a:bodyPr>
          <a:lstStyle/>
          <a:p>
            <a:pPr>
              <a:lnSpc>
                <a:spcPts val="4339"/>
              </a:lnSpc>
            </a:pPr>
            <a:r>
              <a:rPr lang="en-US" sz="3099" dirty="0" err="1">
                <a:solidFill>
                  <a:srgbClr val="000000"/>
                </a:solidFill>
                <a:latin typeface="Roboto Mono Regular Bold"/>
              </a:rPr>
              <a:t>Pengertian</a:t>
            </a:r>
            <a:r>
              <a:rPr lang="en-US" sz="3099" dirty="0">
                <a:solidFill>
                  <a:srgbClr val="000000"/>
                </a:solidFill>
                <a:latin typeface="Roboto Mono Regular Bold"/>
              </a:rPr>
              <a:t> </a:t>
            </a:r>
            <a:r>
              <a:rPr lang="en-US" sz="3099" dirty="0" err="1">
                <a:solidFill>
                  <a:srgbClr val="000000"/>
                </a:solidFill>
                <a:latin typeface="Roboto Mono Regular Bold"/>
              </a:rPr>
              <a:t>terminologis</a:t>
            </a:r>
            <a:r>
              <a:rPr lang="en-US" sz="3099" dirty="0">
                <a:solidFill>
                  <a:srgbClr val="000000"/>
                </a:solidFill>
                <a:latin typeface="Roboto Mono Regular Bold"/>
              </a:rPr>
              <a:t> </a:t>
            </a:r>
            <a:r>
              <a:rPr lang="en-US" sz="3099" dirty="0" err="1">
                <a:solidFill>
                  <a:srgbClr val="000000"/>
                </a:solidFill>
                <a:latin typeface="Roboto Mono Regular Bold"/>
              </a:rPr>
              <a:t>adalah</a:t>
            </a:r>
            <a:r>
              <a:rPr lang="en-US" sz="3099" dirty="0">
                <a:solidFill>
                  <a:srgbClr val="000000"/>
                </a:solidFill>
                <a:latin typeface="Roboto Mono Regular Bold"/>
              </a:rPr>
              <a:t> </a:t>
            </a:r>
            <a:r>
              <a:rPr lang="en-US" sz="3099" dirty="0" err="1">
                <a:solidFill>
                  <a:srgbClr val="000000"/>
                </a:solidFill>
                <a:latin typeface="Roboto Mono Regular Bold"/>
              </a:rPr>
              <a:t>pengertian</a:t>
            </a:r>
            <a:r>
              <a:rPr lang="en-US" sz="3099" dirty="0">
                <a:solidFill>
                  <a:srgbClr val="000000"/>
                </a:solidFill>
                <a:latin typeface="Roboto Mono Regular Bold"/>
              </a:rPr>
              <a:t> yang </a:t>
            </a:r>
            <a:r>
              <a:rPr lang="en-US" sz="3099" dirty="0" err="1">
                <a:solidFill>
                  <a:srgbClr val="000000"/>
                </a:solidFill>
                <a:latin typeface="Roboto Mono Regular Bold"/>
              </a:rPr>
              <a:t>dihubungkan</a:t>
            </a:r>
            <a:r>
              <a:rPr lang="en-US" sz="3099" dirty="0">
                <a:solidFill>
                  <a:srgbClr val="000000"/>
                </a:solidFill>
                <a:latin typeface="Roboto Mono Regular Bold"/>
              </a:rPr>
              <a:t> </a:t>
            </a:r>
            <a:r>
              <a:rPr lang="en-US" sz="3099" dirty="0" err="1">
                <a:solidFill>
                  <a:srgbClr val="000000"/>
                </a:solidFill>
                <a:latin typeface="Roboto Mono Regular Bold"/>
              </a:rPr>
              <a:t>dengan</a:t>
            </a:r>
            <a:r>
              <a:rPr lang="en-US" sz="3099" dirty="0">
                <a:solidFill>
                  <a:srgbClr val="000000"/>
                </a:solidFill>
                <a:latin typeface="Roboto Mono Regular Bold"/>
              </a:rPr>
              <a:t> </a:t>
            </a:r>
            <a:r>
              <a:rPr lang="en-US" sz="3099" dirty="0" err="1">
                <a:solidFill>
                  <a:srgbClr val="000000"/>
                </a:solidFill>
                <a:latin typeface="Roboto Mono Regular Bold"/>
              </a:rPr>
              <a:t>konteks</a:t>
            </a:r>
            <a:r>
              <a:rPr lang="en-US" sz="3099" dirty="0">
                <a:solidFill>
                  <a:srgbClr val="000000"/>
                </a:solidFill>
                <a:latin typeface="Roboto Mono Regular Bold"/>
              </a:rPr>
              <a:t> </a:t>
            </a:r>
            <a:r>
              <a:rPr lang="en-US" sz="3099" dirty="0" err="1">
                <a:solidFill>
                  <a:srgbClr val="000000"/>
                </a:solidFill>
                <a:latin typeface="Roboto Mono Regular Bold"/>
              </a:rPr>
              <a:t>istilah</a:t>
            </a:r>
            <a:r>
              <a:rPr lang="en-US" sz="3099" dirty="0">
                <a:solidFill>
                  <a:srgbClr val="000000"/>
                </a:solidFill>
                <a:latin typeface="Roboto Mono Regular Bold"/>
              </a:rPr>
              <a:t> </a:t>
            </a:r>
            <a:r>
              <a:rPr lang="en-US" sz="3099" dirty="0" err="1">
                <a:solidFill>
                  <a:srgbClr val="000000"/>
                </a:solidFill>
                <a:latin typeface="Roboto Mono Regular Bold"/>
              </a:rPr>
              <a:t>tersebut</a:t>
            </a:r>
            <a:r>
              <a:rPr lang="en-US" sz="3099" dirty="0">
                <a:solidFill>
                  <a:srgbClr val="000000"/>
                </a:solidFill>
                <a:latin typeface="Roboto Mono Regular Bold"/>
              </a:rPr>
              <a:t> </a:t>
            </a:r>
            <a:r>
              <a:rPr lang="en-US" sz="3099" dirty="0" err="1">
                <a:solidFill>
                  <a:srgbClr val="000000"/>
                </a:solidFill>
                <a:latin typeface="Roboto Mono Regular Bold"/>
              </a:rPr>
              <a:t>dikemukakan</a:t>
            </a:r>
            <a:r>
              <a:rPr lang="en-US" sz="3099" dirty="0">
                <a:solidFill>
                  <a:srgbClr val="000000"/>
                </a:solidFill>
                <a:latin typeface="Roboto Mono Regular Bold"/>
              </a:rPr>
              <a:t>. </a:t>
            </a:r>
            <a:r>
              <a:rPr lang="en-US" sz="3099" dirty="0" err="1">
                <a:solidFill>
                  <a:srgbClr val="000000"/>
                </a:solidFill>
                <a:latin typeface="Roboto Mono Regular Bold"/>
              </a:rPr>
              <a:t>Pengertian</a:t>
            </a:r>
            <a:r>
              <a:rPr lang="en-US" sz="3099" dirty="0">
                <a:solidFill>
                  <a:srgbClr val="000000"/>
                </a:solidFill>
                <a:latin typeface="Roboto Mono Regular Bold"/>
              </a:rPr>
              <a:t> </a:t>
            </a:r>
            <a:r>
              <a:rPr lang="en-US" sz="3099" dirty="0" err="1">
                <a:solidFill>
                  <a:srgbClr val="000000"/>
                </a:solidFill>
                <a:latin typeface="Roboto Mono Regular Bold"/>
              </a:rPr>
              <a:t>terminologis</a:t>
            </a:r>
            <a:r>
              <a:rPr lang="en-US" sz="3099" dirty="0">
                <a:solidFill>
                  <a:srgbClr val="000000"/>
                </a:solidFill>
                <a:latin typeface="Roboto Mono Regular Bold"/>
              </a:rPr>
              <a:t> </a:t>
            </a:r>
            <a:r>
              <a:rPr lang="en-US" sz="3099" dirty="0" err="1">
                <a:solidFill>
                  <a:srgbClr val="000000"/>
                </a:solidFill>
                <a:latin typeface="Roboto Mono Regular Bold"/>
              </a:rPr>
              <a:t>pada</a:t>
            </a:r>
            <a:r>
              <a:rPr lang="en-US" sz="3099" dirty="0">
                <a:solidFill>
                  <a:srgbClr val="000000"/>
                </a:solidFill>
                <a:latin typeface="Roboto Mono Regular Bold"/>
              </a:rPr>
              <a:t> </a:t>
            </a:r>
            <a:r>
              <a:rPr lang="en-US" sz="3099" dirty="0" err="1">
                <a:solidFill>
                  <a:srgbClr val="000000"/>
                </a:solidFill>
                <a:latin typeface="Roboto Mono Regular Bold"/>
              </a:rPr>
              <a:t>umumnya</a:t>
            </a:r>
            <a:r>
              <a:rPr lang="en-US" sz="3099" dirty="0">
                <a:solidFill>
                  <a:srgbClr val="000000"/>
                </a:solidFill>
                <a:latin typeface="Roboto Mono Regular Bold"/>
              </a:rPr>
              <a:t> </a:t>
            </a:r>
            <a:r>
              <a:rPr lang="en-US" sz="3099" dirty="0" err="1">
                <a:solidFill>
                  <a:srgbClr val="000000"/>
                </a:solidFill>
                <a:latin typeface="Roboto Mono Regular Bold"/>
              </a:rPr>
              <a:t>adalah</a:t>
            </a:r>
            <a:r>
              <a:rPr lang="en-US" sz="3099" dirty="0">
                <a:solidFill>
                  <a:srgbClr val="000000"/>
                </a:solidFill>
                <a:latin typeface="Roboto Mono Regular Bold"/>
              </a:rPr>
              <a:t> </a:t>
            </a:r>
            <a:r>
              <a:rPr lang="en-US" sz="3099" dirty="0" err="1">
                <a:solidFill>
                  <a:srgbClr val="000000"/>
                </a:solidFill>
                <a:latin typeface="Roboto Mono Regular Bold"/>
              </a:rPr>
              <a:t>pengertian</a:t>
            </a:r>
            <a:r>
              <a:rPr lang="en-US" sz="3099" dirty="0">
                <a:solidFill>
                  <a:srgbClr val="000000"/>
                </a:solidFill>
                <a:latin typeface="Roboto Mono Regular Bold"/>
              </a:rPr>
              <a:t> </a:t>
            </a:r>
            <a:r>
              <a:rPr lang="en-US" sz="3099" dirty="0" err="1">
                <a:solidFill>
                  <a:srgbClr val="000000"/>
                </a:solidFill>
                <a:latin typeface="Roboto Mono Regular Bold"/>
              </a:rPr>
              <a:t>istilah</a:t>
            </a:r>
            <a:r>
              <a:rPr lang="en-US" sz="3099" dirty="0">
                <a:solidFill>
                  <a:srgbClr val="000000"/>
                </a:solidFill>
                <a:latin typeface="Roboto Mono Regular Bold"/>
              </a:rPr>
              <a:t> </a:t>
            </a:r>
            <a:r>
              <a:rPr lang="en-US" sz="3099" dirty="0" err="1">
                <a:solidFill>
                  <a:srgbClr val="000000"/>
                </a:solidFill>
                <a:latin typeface="Roboto Mono Regular Bold"/>
              </a:rPr>
              <a:t>menurut</a:t>
            </a:r>
            <a:r>
              <a:rPr lang="en-US" sz="3099" dirty="0">
                <a:solidFill>
                  <a:srgbClr val="000000"/>
                </a:solidFill>
                <a:latin typeface="Roboto Mono Regular Bold"/>
              </a:rPr>
              <a:t> para </a:t>
            </a:r>
            <a:r>
              <a:rPr lang="en-US" sz="3099" dirty="0" err="1">
                <a:solidFill>
                  <a:srgbClr val="000000"/>
                </a:solidFill>
                <a:latin typeface="Roboto Mono Regular Bold"/>
              </a:rPr>
              <a:t>ahli</a:t>
            </a:r>
            <a:r>
              <a:rPr lang="en-US" sz="3099" dirty="0">
                <a:solidFill>
                  <a:srgbClr val="000000"/>
                </a:solidFill>
                <a:latin typeface="Roboto Mono Regular Bold"/>
              </a:rPr>
              <a:t> </a:t>
            </a:r>
            <a:r>
              <a:rPr lang="en-US" sz="3099" dirty="0" err="1">
                <a:solidFill>
                  <a:srgbClr val="000000"/>
                </a:solidFill>
                <a:latin typeface="Roboto Mono Regular Bold"/>
              </a:rPr>
              <a:t>atau</a:t>
            </a:r>
            <a:r>
              <a:rPr lang="en-US" sz="3099" dirty="0">
                <a:solidFill>
                  <a:srgbClr val="000000"/>
                </a:solidFill>
                <a:latin typeface="Roboto Mono Regular Bold"/>
              </a:rPr>
              <a:t> </a:t>
            </a:r>
            <a:r>
              <a:rPr lang="en-US" sz="3099" dirty="0" err="1">
                <a:solidFill>
                  <a:srgbClr val="000000"/>
                </a:solidFill>
                <a:latin typeface="Roboto Mono Regular Bold"/>
              </a:rPr>
              <a:t>tokoh</a:t>
            </a:r>
            <a:r>
              <a:rPr lang="en-US" sz="3099" dirty="0">
                <a:solidFill>
                  <a:srgbClr val="000000"/>
                </a:solidFill>
                <a:latin typeface="Roboto Mono Regular Bold"/>
              </a:rPr>
              <a:t> </a:t>
            </a:r>
            <a:r>
              <a:rPr lang="en-US" sz="3099" dirty="0" err="1">
                <a:solidFill>
                  <a:srgbClr val="000000"/>
                </a:solidFill>
                <a:latin typeface="Roboto Mono Regular Bold"/>
              </a:rPr>
              <a:t>dan</a:t>
            </a:r>
            <a:r>
              <a:rPr lang="en-US" sz="3099" dirty="0">
                <a:solidFill>
                  <a:srgbClr val="000000"/>
                </a:solidFill>
                <a:latin typeface="Roboto Mono Regular Bold"/>
              </a:rPr>
              <a:t> </a:t>
            </a:r>
            <a:r>
              <a:rPr lang="en-US" sz="3099" dirty="0" err="1">
                <a:solidFill>
                  <a:srgbClr val="000000"/>
                </a:solidFill>
                <a:latin typeface="Roboto Mono Regular Bold"/>
              </a:rPr>
              <a:t>lembaga</a:t>
            </a:r>
            <a:r>
              <a:rPr lang="en-US" sz="3099" dirty="0">
                <a:solidFill>
                  <a:srgbClr val="000000"/>
                </a:solidFill>
                <a:latin typeface="Roboto Mono Regular Bold"/>
              </a:rPr>
              <a:t> yang </a:t>
            </a:r>
            <a:r>
              <a:rPr lang="en-US" sz="3099" dirty="0" err="1">
                <a:solidFill>
                  <a:srgbClr val="000000"/>
                </a:solidFill>
                <a:latin typeface="Roboto Mono Regular Bold"/>
              </a:rPr>
              <a:t>akan</a:t>
            </a:r>
            <a:r>
              <a:rPr lang="en-US" sz="3099" dirty="0">
                <a:solidFill>
                  <a:srgbClr val="000000"/>
                </a:solidFill>
                <a:latin typeface="Roboto Mono Regular Bold"/>
              </a:rPr>
              <a:t> </a:t>
            </a:r>
            <a:r>
              <a:rPr lang="en-US" sz="3099" dirty="0" err="1" smtClean="0">
                <a:solidFill>
                  <a:srgbClr val="000000"/>
                </a:solidFill>
                <a:latin typeface="Roboto Mono Regular Bold"/>
              </a:rPr>
              <a:t>mengkaji</a:t>
            </a:r>
            <a:r>
              <a:rPr lang="en-US" sz="3099" dirty="0" smtClean="0">
                <a:solidFill>
                  <a:srgbClr val="000000"/>
                </a:solidFill>
                <a:latin typeface="Roboto Mono Regular Bold"/>
              </a:rPr>
              <a:t> </a:t>
            </a:r>
            <a:r>
              <a:rPr lang="en-US" sz="3099" dirty="0" err="1">
                <a:solidFill>
                  <a:srgbClr val="000000"/>
                </a:solidFill>
                <a:latin typeface="Roboto Mono Regular Bold"/>
              </a:rPr>
              <a:t>konsep</a:t>
            </a:r>
            <a:r>
              <a:rPr lang="en-US" sz="3099" dirty="0">
                <a:solidFill>
                  <a:srgbClr val="000000"/>
                </a:solidFill>
                <a:latin typeface="Roboto Mono Regular Bold"/>
              </a:rPr>
              <a:t> </a:t>
            </a:r>
            <a:r>
              <a:rPr lang="en-US" sz="3099" dirty="0" err="1">
                <a:solidFill>
                  <a:srgbClr val="000000"/>
                </a:solidFill>
                <a:latin typeface="Roboto Mono Regular Bold"/>
              </a:rPr>
              <a:t>tersebut</a:t>
            </a:r>
            <a:r>
              <a:rPr lang="en-US" sz="3099" dirty="0">
                <a:solidFill>
                  <a:srgbClr val="000000"/>
                </a:solidFill>
                <a:latin typeface="Roboto Mono Regular Bold"/>
              </a:rPr>
              <a:t>. </a:t>
            </a:r>
            <a:r>
              <a:rPr lang="en-US" sz="3099" dirty="0" err="1">
                <a:solidFill>
                  <a:srgbClr val="000000"/>
                </a:solidFill>
                <a:latin typeface="Roboto Mono Regular Bold"/>
              </a:rPr>
              <a:t>Untuk</a:t>
            </a:r>
            <a:r>
              <a:rPr lang="en-US" sz="3099" dirty="0">
                <a:solidFill>
                  <a:srgbClr val="000000"/>
                </a:solidFill>
                <a:latin typeface="Roboto Mono Regular Bold"/>
              </a:rPr>
              <a:t> </a:t>
            </a:r>
            <a:r>
              <a:rPr lang="en-US" sz="3099" dirty="0" err="1">
                <a:solidFill>
                  <a:srgbClr val="000000"/>
                </a:solidFill>
                <a:latin typeface="Roboto Mono Regular Bold"/>
              </a:rPr>
              <a:t>membangun</a:t>
            </a:r>
            <a:r>
              <a:rPr lang="en-US" sz="3099" dirty="0">
                <a:solidFill>
                  <a:srgbClr val="000000"/>
                </a:solidFill>
                <a:latin typeface="Roboto Mono Regular Bold"/>
              </a:rPr>
              <a:t> </a:t>
            </a:r>
            <a:r>
              <a:rPr lang="en-US" sz="3099" dirty="0" err="1">
                <a:solidFill>
                  <a:srgbClr val="000000"/>
                </a:solidFill>
                <a:latin typeface="Roboto Mono Regular Bold"/>
              </a:rPr>
              <a:t>semangat</a:t>
            </a:r>
            <a:r>
              <a:rPr lang="en-US" sz="3099" dirty="0">
                <a:solidFill>
                  <a:srgbClr val="000000"/>
                </a:solidFill>
                <a:latin typeface="Roboto Mono Regular Bold"/>
              </a:rPr>
              <a:t> </a:t>
            </a:r>
            <a:r>
              <a:rPr lang="en-US" sz="3099" dirty="0" err="1">
                <a:solidFill>
                  <a:srgbClr val="000000"/>
                </a:solidFill>
                <a:latin typeface="Roboto Mono Regular Bold"/>
              </a:rPr>
              <a:t>kebangsaan</a:t>
            </a:r>
            <a:r>
              <a:rPr lang="en-US" sz="3099" dirty="0">
                <a:solidFill>
                  <a:srgbClr val="000000"/>
                </a:solidFill>
                <a:latin typeface="Roboto Mono Regular Bold"/>
              </a:rPr>
              <a:t> </a:t>
            </a:r>
            <a:r>
              <a:rPr lang="en-US" sz="3099" dirty="0" err="1">
                <a:solidFill>
                  <a:srgbClr val="000000"/>
                </a:solidFill>
                <a:latin typeface="Roboto Mono Regular Bold"/>
              </a:rPr>
              <a:t>dan</a:t>
            </a:r>
            <a:r>
              <a:rPr lang="en-US" sz="3099" dirty="0">
                <a:solidFill>
                  <a:srgbClr val="000000"/>
                </a:solidFill>
                <a:latin typeface="Roboto Mono Regular Bold"/>
              </a:rPr>
              <a:t> </a:t>
            </a:r>
            <a:r>
              <a:rPr lang="en-US" sz="3099" dirty="0" err="1">
                <a:solidFill>
                  <a:srgbClr val="000000"/>
                </a:solidFill>
                <a:latin typeface="Roboto Mono Regular Bold"/>
              </a:rPr>
              <a:t>cinta</a:t>
            </a:r>
            <a:r>
              <a:rPr lang="en-US" sz="3099" dirty="0">
                <a:solidFill>
                  <a:srgbClr val="000000"/>
                </a:solidFill>
                <a:latin typeface="Roboto Mono Regular Bold"/>
              </a:rPr>
              <a:t> </a:t>
            </a:r>
            <a:r>
              <a:rPr lang="en-US" sz="3099" dirty="0" err="1">
                <a:solidFill>
                  <a:srgbClr val="000000"/>
                </a:solidFill>
                <a:latin typeface="Roboto Mono Regular Bold"/>
              </a:rPr>
              <a:t>tanah</a:t>
            </a:r>
            <a:r>
              <a:rPr lang="en-US" sz="3099" dirty="0">
                <a:solidFill>
                  <a:srgbClr val="000000"/>
                </a:solidFill>
                <a:latin typeface="Roboto Mono Regular Bold"/>
              </a:rPr>
              <a:t> air, </a:t>
            </a:r>
            <a:r>
              <a:rPr lang="en-US" sz="3099" dirty="0" err="1">
                <a:solidFill>
                  <a:srgbClr val="000000"/>
                </a:solidFill>
                <a:latin typeface="Roboto Mono Regular Bold"/>
              </a:rPr>
              <a:t>mesipun</a:t>
            </a:r>
            <a:r>
              <a:rPr lang="en-US" sz="3099" dirty="0">
                <a:solidFill>
                  <a:srgbClr val="000000"/>
                </a:solidFill>
                <a:latin typeface="Roboto Mono Regular Bold"/>
              </a:rPr>
              <a:t> </a:t>
            </a:r>
            <a:r>
              <a:rPr lang="en-US" sz="3099" dirty="0" err="1">
                <a:solidFill>
                  <a:srgbClr val="000000"/>
                </a:solidFill>
                <a:latin typeface="Roboto Mono Regular Bold"/>
              </a:rPr>
              <a:t>tampak</a:t>
            </a:r>
            <a:r>
              <a:rPr lang="en-US" sz="3099" dirty="0">
                <a:solidFill>
                  <a:srgbClr val="000000"/>
                </a:solidFill>
                <a:latin typeface="Roboto Mono Regular Bold"/>
              </a:rPr>
              <a:t> </a:t>
            </a:r>
            <a:r>
              <a:rPr lang="en-US" sz="3099" dirty="0" err="1">
                <a:solidFill>
                  <a:srgbClr val="000000"/>
                </a:solidFill>
                <a:latin typeface="Roboto Mono Regular Bold"/>
              </a:rPr>
              <a:t>bahwa</a:t>
            </a:r>
            <a:r>
              <a:rPr lang="en-US" sz="3099" dirty="0">
                <a:solidFill>
                  <a:srgbClr val="000000"/>
                </a:solidFill>
                <a:latin typeface="Roboto Mono Regular Bold"/>
              </a:rPr>
              <a:t> </a:t>
            </a:r>
            <a:r>
              <a:rPr lang="en-US" sz="3099" dirty="0" err="1">
                <a:solidFill>
                  <a:srgbClr val="000000"/>
                </a:solidFill>
                <a:latin typeface="Roboto Mono Regular Bold"/>
              </a:rPr>
              <a:t>wilayah</a:t>
            </a:r>
            <a:r>
              <a:rPr lang="en-US" sz="3099" dirty="0">
                <a:solidFill>
                  <a:srgbClr val="000000"/>
                </a:solidFill>
                <a:latin typeface="Roboto Mono Regular Bold"/>
              </a:rPr>
              <a:t> Indonesia </a:t>
            </a:r>
            <a:r>
              <a:rPr lang="en-US" sz="3099" dirty="0" err="1">
                <a:solidFill>
                  <a:srgbClr val="000000"/>
                </a:solidFill>
                <a:latin typeface="Roboto Mono Regular Bold"/>
              </a:rPr>
              <a:t>itu</a:t>
            </a:r>
            <a:r>
              <a:rPr lang="en-US" sz="3099" dirty="0">
                <a:solidFill>
                  <a:srgbClr val="000000"/>
                </a:solidFill>
                <a:latin typeface="Roboto Mono Regular Bold"/>
              </a:rPr>
              <a:t> </a:t>
            </a:r>
            <a:r>
              <a:rPr lang="en-US" sz="3099" dirty="0" err="1">
                <a:solidFill>
                  <a:srgbClr val="000000"/>
                </a:solidFill>
                <a:latin typeface="Roboto Mono Regular Bold"/>
              </a:rPr>
              <a:t>terdiri</a:t>
            </a:r>
            <a:r>
              <a:rPr lang="en-US" sz="3099" dirty="0">
                <a:solidFill>
                  <a:srgbClr val="000000"/>
                </a:solidFill>
                <a:latin typeface="Roboto Mono Regular Bold"/>
              </a:rPr>
              <a:t> </a:t>
            </a:r>
            <a:r>
              <a:rPr lang="en-US" sz="3099" dirty="0" err="1">
                <a:solidFill>
                  <a:srgbClr val="000000"/>
                </a:solidFill>
                <a:latin typeface="Roboto Mono Regular Bold"/>
              </a:rPr>
              <a:t>dari</a:t>
            </a:r>
            <a:r>
              <a:rPr lang="en-US" sz="3099" dirty="0">
                <a:solidFill>
                  <a:srgbClr val="000000"/>
                </a:solidFill>
                <a:latin typeface="Roboto Mono Regular Bold"/>
              </a:rPr>
              <a:t> </a:t>
            </a:r>
            <a:r>
              <a:rPr lang="en-US" sz="3099" dirty="0" err="1">
                <a:solidFill>
                  <a:srgbClr val="000000"/>
                </a:solidFill>
                <a:latin typeface="Roboto Mono Regular Bold"/>
              </a:rPr>
              <a:t>banyak</a:t>
            </a:r>
            <a:r>
              <a:rPr lang="en-US" sz="3099" dirty="0">
                <a:solidFill>
                  <a:srgbClr val="000000"/>
                </a:solidFill>
                <a:latin typeface="Roboto Mono Regular Bold"/>
              </a:rPr>
              <a:t> </a:t>
            </a:r>
            <a:r>
              <a:rPr lang="en-US" sz="3099" dirty="0" err="1">
                <a:solidFill>
                  <a:srgbClr val="000000"/>
                </a:solidFill>
                <a:latin typeface="Roboto Mono Regular Bold"/>
              </a:rPr>
              <a:t>pulau</a:t>
            </a:r>
            <a:r>
              <a:rPr lang="en-US" sz="3099" dirty="0">
                <a:solidFill>
                  <a:srgbClr val="000000"/>
                </a:solidFill>
                <a:latin typeface="Roboto Mono Regular Bold"/>
              </a:rPr>
              <a:t> </a:t>
            </a:r>
            <a:r>
              <a:rPr lang="en-US" sz="3099" dirty="0" err="1">
                <a:solidFill>
                  <a:srgbClr val="000000"/>
                </a:solidFill>
                <a:latin typeface="Roboto Mono Regular Bold"/>
              </a:rPr>
              <a:t>dengan</a:t>
            </a:r>
            <a:r>
              <a:rPr lang="en-US" sz="3099" dirty="0">
                <a:solidFill>
                  <a:srgbClr val="000000"/>
                </a:solidFill>
                <a:latin typeface="Roboto Mono Regular Bold"/>
              </a:rPr>
              <a:t> </a:t>
            </a:r>
            <a:r>
              <a:rPr lang="en-US" sz="3099" dirty="0" err="1">
                <a:solidFill>
                  <a:srgbClr val="000000"/>
                </a:solidFill>
                <a:latin typeface="Roboto Mono Regular Bold"/>
              </a:rPr>
              <a:t>lautan</a:t>
            </a:r>
            <a:r>
              <a:rPr lang="en-US" sz="3099" dirty="0">
                <a:solidFill>
                  <a:srgbClr val="000000"/>
                </a:solidFill>
                <a:latin typeface="Roboto Mono Regular Bold"/>
              </a:rPr>
              <a:t> yang </a:t>
            </a:r>
            <a:r>
              <a:rPr lang="en-US" sz="3099" dirty="0" err="1">
                <a:solidFill>
                  <a:srgbClr val="000000"/>
                </a:solidFill>
                <a:latin typeface="Roboto Mono Regular Bold"/>
              </a:rPr>
              <a:t>luas</a:t>
            </a:r>
            <a:r>
              <a:rPr lang="en-US" sz="3099" dirty="0">
                <a:solidFill>
                  <a:srgbClr val="000000"/>
                </a:solidFill>
                <a:latin typeface="Roboto Mono Regular Bold"/>
              </a:rPr>
              <a:t>, </a:t>
            </a:r>
            <a:r>
              <a:rPr lang="en-US" sz="3099" dirty="0" err="1">
                <a:solidFill>
                  <a:srgbClr val="000000"/>
                </a:solidFill>
                <a:latin typeface="Roboto Mono Regular Bold"/>
              </a:rPr>
              <a:t>kita</a:t>
            </a:r>
            <a:r>
              <a:rPr lang="en-US" sz="3099" dirty="0">
                <a:solidFill>
                  <a:srgbClr val="000000"/>
                </a:solidFill>
                <a:latin typeface="Roboto Mono Regular Bold"/>
              </a:rPr>
              <a:t> </a:t>
            </a:r>
            <a:r>
              <a:rPr lang="en-US" sz="3099" dirty="0" err="1">
                <a:solidFill>
                  <a:srgbClr val="000000"/>
                </a:solidFill>
                <a:latin typeface="Roboto Mono Regular Bold"/>
              </a:rPr>
              <a:t>memandang</a:t>
            </a:r>
            <a:r>
              <a:rPr lang="en-US" sz="3099" dirty="0">
                <a:solidFill>
                  <a:srgbClr val="000000"/>
                </a:solidFill>
                <a:latin typeface="Roboto Mono Regular Bold"/>
              </a:rPr>
              <a:t> </a:t>
            </a:r>
            <a:r>
              <a:rPr lang="en-US" sz="3099" dirty="0" err="1">
                <a:solidFill>
                  <a:srgbClr val="000000"/>
                </a:solidFill>
                <a:latin typeface="Roboto Mono Regular Bold"/>
              </a:rPr>
              <a:t>wilayah</a:t>
            </a:r>
            <a:r>
              <a:rPr lang="en-US" sz="3099" dirty="0">
                <a:solidFill>
                  <a:srgbClr val="000000"/>
                </a:solidFill>
                <a:latin typeface="Roboto Mono Regular Bold"/>
              </a:rPr>
              <a:t> Indonesia </a:t>
            </a:r>
            <a:r>
              <a:rPr lang="en-US" sz="3099" dirty="0" err="1">
                <a:solidFill>
                  <a:srgbClr val="000000"/>
                </a:solidFill>
                <a:latin typeface="Roboto Mono Regular Bold"/>
              </a:rPr>
              <a:t>itu</a:t>
            </a:r>
            <a:r>
              <a:rPr lang="en-US" sz="3099" dirty="0">
                <a:solidFill>
                  <a:srgbClr val="000000"/>
                </a:solidFill>
                <a:latin typeface="Roboto Mono Regular Bold"/>
              </a:rPr>
              <a:t> </a:t>
            </a:r>
            <a:r>
              <a:rPr lang="en-US" sz="3099" dirty="0" err="1">
                <a:solidFill>
                  <a:srgbClr val="000000"/>
                </a:solidFill>
                <a:latin typeface="Roboto Mono Regular Bold"/>
              </a:rPr>
              <a:t>tetap</a:t>
            </a:r>
            <a:r>
              <a:rPr lang="en-US" sz="3099" dirty="0">
                <a:solidFill>
                  <a:srgbClr val="000000"/>
                </a:solidFill>
                <a:latin typeface="Roboto Mono Regular Bold"/>
              </a:rPr>
              <a:t> </a:t>
            </a:r>
            <a:r>
              <a:rPr lang="en-US" sz="3099" dirty="0" err="1">
                <a:solidFill>
                  <a:srgbClr val="000000"/>
                </a:solidFill>
                <a:latin typeface="Roboto Mono Regular Bold"/>
              </a:rPr>
              <a:t>merupakan</a:t>
            </a:r>
            <a:r>
              <a:rPr lang="en-US" sz="3099" dirty="0">
                <a:solidFill>
                  <a:srgbClr val="000000"/>
                </a:solidFill>
                <a:latin typeface="Roboto Mono Regular Bold"/>
              </a:rPr>
              <a:t> </a:t>
            </a:r>
            <a:r>
              <a:rPr lang="en-US" sz="3099" dirty="0" err="1">
                <a:solidFill>
                  <a:srgbClr val="000000"/>
                </a:solidFill>
                <a:latin typeface="Roboto Mono Regular Bold"/>
              </a:rPr>
              <a:t>satu</a:t>
            </a:r>
            <a:r>
              <a:rPr lang="en-US" sz="3099" dirty="0">
                <a:solidFill>
                  <a:srgbClr val="000000"/>
                </a:solidFill>
                <a:latin typeface="Roboto Mono Regular Bold"/>
              </a:rPr>
              <a:t> </a:t>
            </a:r>
            <a:r>
              <a:rPr lang="en-US" sz="3099" dirty="0" err="1">
                <a:solidFill>
                  <a:srgbClr val="000000"/>
                </a:solidFill>
                <a:latin typeface="Roboto Mono Regular Bold"/>
              </a:rPr>
              <a:t>kesatuan</a:t>
            </a:r>
            <a:r>
              <a:rPr lang="en-US" sz="3099" dirty="0">
                <a:solidFill>
                  <a:srgbClr val="000000"/>
                </a:solidFill>
                <a:latin typeface="Roboto Mono Regular Bold"/>
              </a:rPr>
              <a:t>, </a:t>
            </a:r>
            <a:r>
              <a:rPr lang="en-US" sz="3099" dirty="0" err="1">
                <a:solidFill>
                  <a:srgbClr val="000000"/>
                </a:solidFill>
                <a:latin typeface="Roboto Mono Regular Bold"/>
              </a:rPr>
              <a:t>sebagai</a:t>
            </a:r>
            <a:r>
              <a:rPr lang="en-US" sz="3099" dirty="0">
                <a:solidFill>
                  <a:srgbClr val="000000"/>
                </a:solidFill>
                <a:latin typeface="Roboto Mono Regular Bold"/>
              </a:rPr>
              <a:t> </a:t>
            </a:r>
            <a:r>
              <a:rPr lang="en-US" sz="3099" dirty="0" err="1">
                <a:solidFill>
                  <a:srgbClr val="000000"/>
                </a:solidFill>
                <a:latin typeface="Roboto Mono Regular Bold"/>
              </a:rPr>
              <a:t>satu</a:t>
            </a:r>
            <a:r>
              <a:rPr lang="en-US" sz="3099" dirty="0">
                <a:solidFill>
                  <a:srgbClr val="000000"/>
                </a:solidFill>
                <a:latin typeface="Roboto Mono Regular Bold"/>
              </a:rPr>
              <a:t> </a:t>
            </a:r>
            <a:r>
              <a:rPr lang="en-US" sz="3099" dirty="0" err="1">
                <a:solidFill>
                  <a:srgbClr val="000000"/>
                </a:solidFill>
                <a:latin typeface="Roboto Mono Regular Bold"/>
              </a:rPr>
              <a:t>wilayah</a:t>
            </a:r>
            <a:r>
              <a:rPr lang="en-US" sz="3099" dirty="0">
                <a:solidFill>
                  <a:srgbClr val="000000"/>
                </a:solidFill>
                <a:latin typeface="Roboto Mono Regular Bold"/>
              </a:rPr>
              <a:t>.</a:t>
            </a:r>
          </a:p>
          <a:p>
            <a:pPr>
              <a:lnSpc>
                <a:spcPts val="3500"/>
              </a:lnSpc>
            </a:pPr>
            <a:endParaRPr lang="en-US" sz="3099" dirty="0">
              <a:solidFill>
                <a:srgbClr val="000000"/>
              </a:solidFill>
              <a:latin typeface="Roboto Mono Regular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25525"/>
        </a:solidFill>
        <a:effectLst/>
      </p:bgPr>
    </p:bg>
    <p:spTree>
      <p:nvGrpSpPr>
        <p:cNvPr id="1" name=""/>
        <p:cNvGrpSpPr/>
        <p:nvPr/>
      </p:nvGrpSpPr>
      <p:grpSpPr>
        <a:xfrm>
          <a:off x="0" y="0"/>
          <a:ext cx="0" cy="0"/>
          <a:chOff x="0" y="0"/>
          <a:chExt cx="0" cy="0"/>
        </a:xfrm>
      </p:grpSpPr>
      <p:sp>
        <p:nvSpPr>
          <p:cNvPr id="2" name="AutoShape 2"/>
          <p:cNvSpPr/>
          <p:nvPr/>
        </p:nvSpPr>
        <p:spPr>
          <a:xfrm>
            <a:off x="1028700" y="1704816"/>
            <a:ext cx="16230600" cy="8582184"/>
          </a:xfrm>
          <a:prstGeom prst="rect">
            <a:avLst/>
          </a:prstGeom>
          <a:solidFill>
            <a:srgbClr val="FFFBEC"/>
          </a:solidFill>
        </p:spPr>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649050">
            <a:off x="17792275" y="2044477"/>
            <a:ext cx="991450" cy="7902863"/>
          </a:xfrm>
          <a:prstGeom prst="rect">
            <a:avLst/>
          </a:prstGeom>
        </p:spPr>
      </p:pic>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7962055" y="-355200"/>
            <a:ext cx="2363891" cy="2376856"/>
          </a:xfrm>
          <a:prstGeom prst="rect">
            <a:avLst/>
          </a:prstGeom>
        </p:spPr>
      </p:pic>
      <p:sp>
        <p:nvSpPr>
          <p:cNvPr id="6" name="TextBox 6"/>
          <p:cNvSpPr txBox="1"/>
          <p:nvPr/>
        </p:nvSpPr>
        <p:spPr>
          <a:xfrm>
            <a:off x="2375934" y="3094405"/>
            <a:ext cx="13536133" cy="5726807"/>
          </a:xfrm>
          <a:prstGeom prst="rect">
            <a:avLst/>
          </a:prstGeom>
        </p:spPr>
        <p:txBody>
          <a:bodyPr lIns="0" tIns="0" rIns="0" bIns="0" rtlCol="0" anchor="t">
            <a:spAutoFit/>
          </a:bodyPr>
          <a:lstStyle/>
          <a:p>
            <a:pPr>
              <a:lnSpc>
                <a:spcPts val="5152"/>
              </a:lnSpc>
            </a:pPr>
            <a:r>
              <a:rPr lang="en-US" sz="3680">
                <a:solidFill>
                  <a:srgbClr val="000000"/>
                </a:solidFill>
                <a:latin typeface="Roboto Mono Regular Bold"/>
              </a:rPr>
              <a:t>Begitu juga dari beragam suku dengan latar belakang yang berbeda, kita juga memandang bangsa Indonesia tetap merupakan satu kesatuan. Jadi bangsa Indonesia memandang wilayah berikut bangsa yang ada di dalamnya sebagai satu kesatuan. Hakikat atau esensi wawasan nusantara (Wasantara) adalah persatuan bangsa dan kesatuan wilayah.</a:t>
            </a:r>
          </a:p>
          <a:p>
            <a:pPr>
              <a:lnSpc>
                <a:spcPts val="4154"/>
              </a:lnSpc>
            </a:pPr>
            <a:endParaRPr lang="en-US" sz="3680">
              <a:solidFill>
                <a:srgbClr val="000000"/>
              </a:solidFill>
              <a:latin typeface="Roboto Mono Regular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BEC"/>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5400000">
            <a:off x="-314411" y="2599891"/>
            <a:ext cx="18916823" cy="15374218"/>
          </a:xfrm>
          <a:prstGeom prst="rect">
            <a:avLst/>
          </a:prstGeom>
        </p:spPr>
      </p:pic>
      <p:sp>
        <p:nvSpPr>
          <p:cNvPr id="3" name="TextBox 3"/>
          <p:cNvSpPr txBox="1"/>
          <p:nvPr/>
        </p:nvSpPr>
        <p:spPr>
          <a:xfrm>
            <a:off x="2094080" y="1438042"/>
            <a:ext cx="10098224" cy="2032635"/>
          </a:xfrm>
          <a:prstGeom prst="rect">
            <a:avLst/>
          </a:prstGeom>
        </p:spPr>
        <p:txBody>
          <a:bodyPr lIns="0" tIns="0" rIns="0" bIns="0" rtlCol="0" anchor="t">
            <a:spAutoFit/>
          </a:bodyPr>
          <a:lstStyle/>
          <a:p>
            <a:pPr>
              <a:lnSpc>
                <a:spcPts val="8058"/>
              </a:lnSpc>
            </a:pPr>
            <a:r>
              <a:rPr lang="en-US" sz="6715">
                <a:solidFill>
                  <a:srgbClr val="FFFBEC"/>
                </a:solidFill>
                <a:latin typeface="Roboto Mono Regular Bold"/>
              </a:rPr>
              <a:t>MENGAPA DIPERLUKAN WASANTARA</a:t>
            </a: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593044">
            <a:off x="15759698" y="3396139"/>
            <a:ext cx="2999203" cy="6989669"/>
          </a:xfrm>
          <a:prstGeom prst="rect">
            <a:avLst/>
          </a:prstGeom>
        </p:spPr>
      </p:pic>
      <p:sp>
        <p:nvSpPr>
          <p:cNvPr id="5" name="TextBox 5"/>
          <p:cNvSpPr txBox="1"/>
          <p:nvPr/>
        </p:nvSpPr>
        <p:spPr>
          <a:xfrm>
            <a:off x="2094080" y="3847245"/>
            <a:ext cx="11624421" cy="5740739"/>
          </a:xfrm>
          <a:prstGeom prst="rect">
            <a:avLst/>
          </a:prstGeom>
        </p:spPr>
        <p:txBody>
          <a:bodyPr lIns="0" tIns="0" rIns="0" bIns="0" rtlCol="0" anchor="t">
            <a:spAutoFit/>
          </a:bodyPr>
          <a:lstStyle/>
          <a:p>
            <a:pPr>
              <a:lnSpc>
                <a:spcPts val="4060"/>
              </a:lnSpc>
            </a:pPr>
            <a:r>
              <a:rPr lang="en-US" sz="2800" dirty="0" err="1">
                <a:solidFill>
                  <a:srgbClr val="000000"/>
                </a:solidFill>
                <a:latin typeface="Roboto Mono Regular Bold"/>
              </a:rPr>
              <a:t>Perhatikan</a:t>
            </a:r>
            <a:r>
              <a:rPr lang="en-US" sz="2800" dirty="0">
                <a:solidFill>
                  <a:srgbClr val="000000"/>
                </a:solidFill>
                <a:latin typeface="Roboto Mono Regular Bold"/>
              </a:rPr>
              <a:t> </a:t>
            </a:r>
            <a:r>
              <a:rPr lang="en-US" sz="2800" dirty="0" err="1">
                <a:solidFill>
                  <a:srgbClr val="000000"/>
                </a:solidFill>
                <a:latin typeface="Roboto Mono Regular Bold"/>
              </a:rPr>
              <a:t>cuplikan</a:t>
            </a:r>
            <a:r>
              <a:rPr lang="en-US" sz="2800" dirty="0">
                <a:solidFill>
                  <a:srgbClr val="000000"/>
                </a:solidFill>
                <a:latin typeface="Roboto Mono Regular Bold"/>
              </a:rPr>
              <a:t> </a:t>
            </a:r>
            <a:r>
              <a:rPr lang="en-US" sz="2800" dirty="0" err="1">
                <a:solidFill>
                  <a:srgbClr val="000000"/>
                </a:solidFill>
                <a:latin typeface="Roboto Mono Regular Bold"/>
              </a:rPr>
              <a:t>Pidato</a:t>
            </a:r>
            <a:r>
              <a:rPr lang="en-US" sz="2800" dirty="0">
                <a:solidFill>
                  <a:srgbClr val="000000"/>
                </a:solidFill>
                <a:latin typeface="Roboto Mono Regular Bold"/>
              </a:rPr>
              <a:t> Ir. </a:t>
            </a:r>
            <a:r>
              <a:rPr lang="en-US" sz="2800" dirty="0" err="1">
                <a:solidFill>
                  <a:srgbClr val="000000"/>
                </a:solidFill>
                <a:latin typeface="Roboto Mono Regular Bold"/>
              </a:rPr>
              <a:t>Soekarno</a:t>
            </a:r>
            <a:r>
              <a:rPr lang="en-US" sz="2800" dirty="0">
                <a:solidFill>
                  <a:srgbClr val="000000"/>
                </a:solidFill>
                <a:latin typeface="Roboto Mono Regular Bold"/>
              </a:rPr>
              <a:t> </a:t>
            </a:r>
            <a:r>
              <a:rPr lang="en-US" sz="2800" dirty="0" err="1">
                <a:solidFill>
                  <a:srgbClr val="000000"/>
                </a:solidFill>
                <a:latin typeface="Roboto Mono Regular Bold"/>
              </a:rPr>
              <a:t>berikut</a:t>
            </a:r>
            <a:r>
              <a:rPr lang="en-US" sz="2800" dirty="0">
                <a:solidFill>
                  <a:srgbClr val="000000"/>
                </a:solidFill>
                <a:latin typeface="Roboto Mono Regular Bold"/>
              </a:rPr>
              <a:t> </a:t>
            </a:r>
            <a:r>
              <a:rPr lang="en-US" sz="2800" dirty="0" err="1">
                <a:solidFill>
                  <a:srgbClr val="000000"/>
                </a:solidFill>
                <a:latin typeface="Roboto Mono Regular Bold"/>
              </a:rPr>
              <a:t>ini</a:t>
            </a:r>
            <a:r>
              <a:rPr lang="en-US" sz="2800" dirty="0">
                <a:solidFill>
                  <a:srgbClr val="000000"/>
                </a:solidFill>
                <a:latin typeface="Roboto Mono Regular Bold"/>
              </a:rPr>
              <a:t> : Tanah air </a:t>
            </a:r>
            <a:r>
              <a:rPr lang="en-US" sz="2800" dirty="0" err="1">
                <a:solidFill>
                  <a:srgbClr val="000000"/>
                </a:solidFill>
                <a:latin typeface="Roboto Mono Regular Bold"/>
              </a:rPr>
              <a:t>itu</a:t>
            </a:r>
            <a:r>
              <a:rPr lang="en-US" sz="2800" dirty="0">
                <a:solidFill>
                  <a:srgbClr val="000000"/>
                </a:solidFill>
                <a:latin typeface="Roboto Mono Regular Bold"/>
              </a:rPr>
              <a:t> </a:t>
            </a:r>
            <a:r>
              <a:rPr lang="en-US" sz="2800" dirty="0" err="1">
                <a:solidFill>
                  <a:srgbClr val="000000"/>
                </a:solidFill>
                <a:latin typeface="Roboto Mono Regular Bold"/>
              </a:rPr>
              <a:t>adalah</a:t>
            </a:r>
            <a:r>
              <a:rPr lang="en-US" sz="2800" dirty="0">
                <a:solidFill>
                  <a:srgbClr val="000000"/>
                </a:solidFill>
                <a:latin typeface="Roboto Mono Regular Bold"/>
              </a:rPr>
              <a:t> </a:t>
            </a:r>
            <a:r>
              <a:rPr lang="en-US" sz="2800" dirty="0" err="1">
                <a:solidFill>
                  <a:srgbClr val="000000"/>
                </a:solidFill>
                <a:latin typeface="Roboto Mono Regular Bold"/>
              </a:rPr>
              <a:t>kesatuan</a:t>
            </a:r>
            <a:r>
              <a:rPr lang="en-US" sz="2800" dirty="0">
                <a:solidFill>
                  <a:srgbClr val="000000"/>
                </a:solidFill>
                <a:latin typeface="Roboto Mono Regular Bold"/>
              </a:rPr>
              <a:t> Allah SWT </a:t>
            </a:r>
            <a:r>
              <a:rPr lang="en-US" sz="2800" dirty="0" err="1">
                <a:solidFill>
                  <a:srgbClr val="000000"/>
                </a:solidFill>
                <a:latin typeface="Roboto Mono Regular Bold"/>
              </a:rPr>
              <a:t>membuat</a:t>
            </a:r>
            <a:r>
              <a:rPr lang="en-US" sz="2800" dirty="0">
                <a:solidFill>
                  <a:srgbClr val="000000"/>
                </a:solidFill>
                <a:latin typeface="Roboto Mono Regular Bold"/>
              </a:rPr>
              <a:t> </a:t>
            </a:r>
            <a:r>
              <a:rPr lang="en-US" sz="2800" dirty="0" err="1">
                <a:solidFill>
                  <a:srgbClr val="000000"/>
                </a:solidFill>
                <a:latin typeface="Roboto Mono Regular Bold"/>
              </a:rPr>
              <a:t>peta</a:t>
            </a:r>
            <a:r>
              <a:rPr lang="en-US" sz="2800" dirty="0">
                <a:solidFill>
                  <a:srgbClr val="000000"/>
                </a:solidFill>
                <a:latin typeface="Roboto Mono Regular Bold"/>
              </a:rPr>
              <a:t> </a:t>
            </a:r>
            <a:r>
              <a:rPr lang="en-US" sz="2800" dirty="0" err="1">
                <a:solidFill>
                  <a:srgbClr val="000000"/>
                </a:solidFill>
                <a:latin typeface="Roboto Mono Regular Bold"/>
              </a:rPr>
              <a:t>dunia</a:t>
            </a:r>
            <a:r>
              <a:rPr lang="en-US" sz="2800" dirty="0">
                <a:solidFill>
                  <a:srgbClr val="000000"/>
                </a:solidFill>
                <a:latin typeface="Roboto Mono Regular Bold"/>
              </a:rPr>
              <a:t>, </a:t>
            </a:r>
            <a:r>
              <a:rPr lang="en-US" sz="2800" dirty="0" err="1">
                <a:solidFill>
                  <a:srgbClr val="000000"/>
                </a:solidFill>
                <a:latin typeface="Roboto Mono Regular Bold"/>
              </a:rPr>
              <a:t>menyusun</a:t>
            </a:r>
            <a:r>
              <a:rPr lang="en-US" sz="2800" dirty="0">
                <a:solidFill>
                  <a:srgbClr val="000000"/>
                </a:solidFill>
                <a:latin typeface="Roboto Mono Regular Bold"/>
              </a:rPr>
              <a:t> </a:t>
            </a:r>
            <a:r>
              <a:rPr lang="en-US" sz="2800" dirty="0" err="1">
                <a:solidFill>
                  <a:srgbClr val="000000"/>
                </a:solidFill>
                <a:latin typeface="Roboto Mono Regular Bold"/>
              </a:rPr>
              <a:t>peta</a:t>
            </a:r>
            <a:r>
              <a:rPr lang="en-US" sz="2800" dirty="0">
                <a:solidFill>
                  <a:srgbClr val="000000"/>
                </a:solidFill>
                <a:latin typeface="Roboto Mono Regular Bold"/>
              </a:rPr>
              <a:t> </a:t>
            </a:r>
            <a:r>
              <a:rPr lang="en-US" sz="2800" dirty="0" err="1">
                <a:solidFill>
                  <a:srgbClr val="000000"/>
                </a:solidFill>
                <a:latin typeface="Roboto Mono Regular Bold"/>
              </a:rPr>
              <a:t>dunia</a:t>
            </a:r>
            <a:r>
              <a:rPr lang="en-US" sz="2800" dirty="0">
                <a:solidFill>
                  <a:srgbClr val="000000"/>
                </a:solidFill>
                <a:latin typeface="Roboto Mono Regular Bold"/>
              </a:rPr>
              <a:t>. </a:t>
            </a:r>
            <a:r>
              <a:rPr lang="en-US" sz="2800" dirty="0" err="1">
                <a:solidFill>
                  <a:srgbClr val="000000"/>
                </a:solidFill>
                <a:latin typeface="Roboto Mono Regular Bold"/>
              </a:rPr>
              <a:t>Kalau</a:t>
            </a:r>
            <a:r>
              <a:rPr lang="en-US" sz="2800" dirty="0">
                <a:solidFill>
                  <a:srgbClr val="000000"/>
                </a:solidFill>
                <a:latin typeface="Roboto Mono Regular Bold"/>
              </a:rPr>
              <a:t> </a:t>
            </a:r>
            <a:r>
              <a:rPr lang="en-US" sz="2800" dirty="0" err="1">
                <a:solidFill>
                  <a:srgbClr val="000000"/>
                </a:solidFill>
                <a:latin typeface="Roboto Mono Regular Bold"/>
              </a:rPr>
              <a:t>kita</a:t>
            </a:r>
            <a:r>
              <a:rPr lang="en-US" sz="2800" dirty="0">
                <a:solidFill>
                  <a:srgbClr val="000000"/>
                </a:solidFill>
                <a:latin typeface="Roboto Mono Regular Bold"/>
              </a:rPr>
              <a:t> </a:t>
            </a:r>
            <a:r>
              <a:rPr lang="en-US" sz="2800" dirty="0" err="1">
                <a:solidFill>
                  <a:srgbClr val="000000"/>
                </a:solidFill>
                <a:latin typeface="Roboto Mono Regular Bold"/>
              </a:rPr>
              <a:t>melihat</a:t>
            </a:r>
            <a:r>
              <a:rPr lang="en-US" sz="2800" dirty="0">
                <a:solidFill>
                  <a:srgbClr val="000000"/>
                </a:solidFill>
                <a:latin typeface="Roboto Mono Regular Bold"/>
              </a:rPr>
              <a:t> </a:t>
            </a:r>
            <a:r>
              <a:rPr lang="en-US" sz="2800" dirty="0" err="1">
                <a:solidFill>
                  <a:srgbClr val="000000"/>
                </a:solidFill>
                <a:latin typeface="Roboto Mono Regular Bold"/>
              </a:rPr>
              <a:t>peta</a:t>
            </a:r>
            <a:r>
              <a:rPr lang="en-US" sz="2800" dirty="0">
                <a:solidFill>
                  <a:srgbClr val="000000"/>
                </a:solidFill>
                <a:latin typeface="Roboto Mono Regular Bold"/>
              </a:rPr>
              <a:t> </a:t>
            </a:r>
            <a:r>
              <a:rPr lang="en-US" sz="2800" dirty="0" err="1">
                <a:solidFill>
                  <a:srgbClr val="000000"/>
                </a:solidFill>
                <a:latin typeface="Roboto Mono Regular Bold"/>
              </a:rPr>
              <a:t>dunia</a:t>
            </a:r>
            <a:r>
              <a:rPr lang="en-US" sz="2800" dirty="0">
                <a:solidFill>
                  <a:srgbClr val="000000"/>
                </a:solidFill>
                <a:latin typeface="Roboto Mono Regular Bold"/>
              </a:rPr>
              <a:t>, </a:t>
            </a:r>
            <a:r>
              <a:rPr lang="en-US" sz="2800" dirty="0" err="1">
                <a:solidFill>
                  <a:srgbClr val="000000"/>
                </a:solidFill>
                <a:latin typeface="Roboto Mono Regular Bold"/>
              </a:rPr>
              <a:t>kita</a:t>
            </a:r>
            <a:r>
              <a:rPr lang="en-US" sz="2800" dirty="0">
                <a:solidFill>
                  <a:srgbClr val="000000"/>
                </a:solidFill>
                <a:latin typeface="Roboto Mono Regular Bold"/>
              </a:rPr>
              <a:t> </a:t>
            </a:r>
            <a:r>
              <a:rPr lang="en-US" sz="2800" dirty="0" err="1">
                <a:solidFill>
                  <a:srgbClr val="000000"/>
                </a:solidFill>
                <a:latin typeface="Roboto Mono Regular Bold"/>
              </a:rPr>
              <a:t>dapat</a:t>
            </a:r>
            <a:r>
              <a:rPr lang="en-US" sz="2800" dirty="0">
                <a:solidFill>
                  <a:srgbClr val="000000"/>
                </a:solidFill>
                <a:latin typeface="Roboto Mono Regular Bold"/>
              </a:rPr>
              <a:t> </a:t>
            </a:r>
            <a:r>
              <a:rPr lang="en-US" sz="2800" dirty="0" err="1">
                <a:solidFill>
                  <a:srgbClr val="000000"/>
                </a:solidFill>
                <a:latin typeface="Roboto Mono Regular Bold"/>
              </a:rPr>
              <a:t>menunjukkan</a:t>
            </a:r>
            <a:r>
              <a:rPr lang="en-US" sz="2800" dirty="0">
                <a:solidFill>
                  <a:srgbClr val="000000"/>
                </a:solidFill>
                <a:latin typeface="Roboto Mono Regular Bold"/>
              </a:rPr>
              <a:t> di </a:t>
            </a:r>
            <a:r>
              <a:rPr lang="en-US" sz="2800" dirty="0" err="1">
                <a:solidFill>
                  <a:srgbClr val="000000"/>
                </a:solidFill>
                <a:latin typeface="Roboto Mono Regular Bold"/>
              </a:rPr>
              <a:t>mana</a:t>
            </a:r>
            <a:r>
              <a:rPr lang="en-US" sz="2800" dirty="0">
                <a:solidFill>
                  <a:srgbClr val="000000"/>
                </a:solidFill>
                <a:latin typeface="Roboto Mono Regular Bold"/>
              </a:rPr>
              <a:t> </a:t>
            </a:r>
            <a:r>
              <a:rPr lang="en-US" sz="2800" dirty="0" err="1">
                <a:solidFill>
                  <a:srgbClr val="000000"/>
                </a:solidFill>
                <a:latin typeface="Roboto Mono Regular Bold"/>
              </a:rPr>
              <a:t>kesatuan</a:t>
            </a:r>
            <a:r>
              <a:rPr lang="en-US" sz="2800" dirty="0">
                <a:solidFill>
                  <a:srgbClr val="000000"/>
                </a:solidFill>
                <a:latin typeface="Roboto Mono Regular Bold"/>
              </a:rPr>
              <a:t> </a:t>
            </a:r>
            <a:r>
              <a:rPr lang="en-US" sz="2800" dirty="0" err="1">
                <a:solidFill>
                  <a:srgbClr val="000000"/>
                </a:solidFill>
                <a:latin typeface="Roboto Mono Regular Bold"/>
              </a:rPr>
              <a:t>kesatuan</a:t>
            </a:r>
            <a:r>
              <a:rPr lang="en-US" sz="2800" dirty="0">
                <a:solidFill>
                  <a:srgbClr val="000000"/>
                </a:solidFill>
                <a:latin typeface="Roboto Mono Regular Bold"/>
              </a:rPr>
              <a:t> di situ. </a:t>
            </a:r>
            <a:r>
              <a:rPr lang="en-US" sz="2800" dirty="0" err="1">
                <a:solidFill>
                  <a:srgbClr val="000000"/>
                </a:solidFill>
                <a:latin typeface="Roboto Mono Regular Bold"/>
              </a:rPr>
              <a:t>Seorang</a:t>
            </a:r>
            <a:r>
              <a:rPr lang="en-US" sz="2800" dirty="0">
                <a:solidFill>
                  <a:srgbClr val="000000"/>
                </a:solidFill>
                <a:latin typeface="Roboto Mono Regular Bold"/>
              </a:rPr>
              <a:t> </a:t>
            </a:r>
            <a:r>
              <a:rPr lang="en-US" sz="2800" dirty="0" err="1">
                <a:solidFill>
                  <a:srgbClr val="000000"/>
                </a:solidFill>
                <a:latin typeface="Roboto Mono Regular Bold"/>
              </a:rPr>
              <a:t>anak</a:t>
            </a:r>
            <a:r>
              <a:rPr lang="en-US" sz="2800" dirty="0">
                <a:solidFill>
                  <a:srgbClr val="000000"/>
                </a:solidFill>
                <a:latin typeface="Roboto Mono Regular Bold"/>
              </a:rPr>
              <a:t> </a:t>
            </a:r>
            <a:r>
              <a:rPr lang="en-US" sz="2800" dirty="0" err="1">
                <a:solidFill>
                  <a:srgbClr val="000000"/>
                </a:solidFill>
                <a:latin typeface="Roboto Mono Regular Bold"/>
              </a:rPr>
              <a:t>kecilpun</a:t>
            </a:r>
            <a:r>
              <a:rPr lang="en-US" sz="2800" dirty="0">
                <a:solidFill>
                  <a:srgbClr val="000000"/>
                </a:solidFill>
                <a:latin typeface="Roboto Mono Regular Bold"/>
              </a:rPr>
              <a:t>, </a:t>
            </a:r>
            <a:r>
              <a:rPr lang="en-US" sz="2800" dirty="0" err="1">
                <a:solidFill>
                  <a:srgbClr val="000000"/>
                </a:solidFill>
                <a:latin typeface="Roboto Mono Regular Bold"/>
              </a:rPr>
              <a:t>jikalau</a:t>
            </a:r>
            <a:r>
              <a:rPr lang="en-US" sz="2800" dirty="0">
                <a:solidFill>
                  <a:srgbClr val="000000"/>
                </a:solidFill>
                <a:latin typeface="Roboto Mono Regular Bold"/>
              </a:rPr>
              <a:t> </a:t>
            </a:r>
            <a:r>
              <a:rPr lang="en-US" sz="2800" dirty="0" err="1">
                <a:solidFill>
                  <a:srgbClr val="000000"/>
                </a:solidFill>
                <a:latin typeface="Roboto Mono Regular Bold"/>
              </a:rPr>
              <a:t>ia</a:t>
            </a:r>
            <a:r>
              <a:rPr lang="en-US" sz="2800" dirty="0">
                <a:solidFill>
                  <a:srgbClr val="000000"/>
                </a:solidFill>
                <a:latin typeface="Roboto Mono Regular Bold"/>
              </a:rPr>
              <a:t> </a:t>
            </a:r>
            <a:r>
              <a:rPr lang="en-US" sz="2800" dirty="0" err="1">
                <a:solidFill>
                  <a:srgbClr val="000000"/>
                </a:solidFill>
                <a:latin typeface="Roboto Mono Regular Bold"/>
              </a:rPr>
              <a:t>melihat</a:t>
            </a:r>
            <a:r>
              <a:rPr lang="en-US" sz="2800" dirty="0">
                <a:solidFill>
                  <a:srgbClr val="000000"/>
                </a:solidFill>
                <a:latin typeface="Roboto Mono Regular Bold"/>
              </a:rPr>
              <a:t> </a:t>
            </a:r>
            <a:r>
              <a:rPr lang="en-US" sz="2800" dirty="0" err="1">
                <a:solidFill>
                  <a:srgbClr val="000000"/>
                </a:solidFill>
                <a:latin typeface="Roboto Mono Regular Bold"/>
              </a:rPr>
              <a:t>peta</a:t>
            </a:r>
            <a:r>
              <a:rPr lang="en-US" sz="2800" dirty="0">
                <a:solidFill>
                  <a:srgbClr val="000000"/>
                </a:solidFill>
                <a:latin typeface="Roboto Mono Regular Bold"/>
              </a:rPr>
              <a:t> </a:t>
            </a:r>
            <a:r>
              <a:rPr lang="en-US" sz="2800" dirty="0" err="1">
                <a:solidFill>
                  <a:srgbClr val="000000"/>
                </a:solidFill>
                <a:latin typeface="Roboto Mono Regular Bold"/>
              </a:rPr>
              <a:t>dunia</a:t>
            </a:r>
            <a:r>
              <a:rPr lang="en-US" sz="2800" dirty="0">
                <a:solidFill>
                  <a:srgbClr val="000000"/>
                </a:solidFill>
                <a:latin typeface="Roboto Mono Regular Bold"/>
              </a:rPr>
              <a:t>, </a:t>
            </a:r>
            <a:r>
              <a:rPr lang="en-US" sz="2800" dirty="0" err="1">
                <a:solidFill>
                  <a:srgbClr val="000000"/>
                </a:solidFill>
                <a:latin typeface="Roboto Mono Regular Bold"/>
              </a:rPr>
              <a:t>ia</a:t>
            </a:r>
            <a:r>
              <a:rPr lang="en-US" sz="2800" dirty="0">
                <a:solidFill>
                  <a:srgbClr val="000000"/>
                </a:solidFill>
                <a:latin typeface="Roboto Mono Regular Bold"/>
              </a:rPr>
              <a:t> </a:t>
            </a:r>
            <a:r>
              <a:rPr lang="en-US" sz="2800" dirty="0" err="1">
                <a:solidFill>
                  <a:srgbClr val="000000"/>
                </a:solidFill>
                <a:latin typeface="Roboto Mono Regular Bold"/>
              </a:rPr>
              <a:t>dapat</a:t>
            </a:r>
            <a:r>
              <a:rPr lang="en-US" sz="2800" dirty="0">
                <a:solidFill>
                  <a:srgbClr val="000000"/>
                </a:solidFill>
                <a:latin typeface="Roboto Mono Regular Bold"/>
              </a:rPr>
              <a:t> </a:t>
            </a:r>
            <a:r>
              <a:rPr lang="en-US" sz="2800" dirty="0" err="1">
                <a:solidFill>
                  <a:srgbClr val="000000"/>
                </a:solidFill>
                <a:latin typeface="Roboto Mono Regular Bold"/>
              </a:rPr>
              <a:t>menunjukkan</a:t>
            </a:r>
            <a:r>
              <a:rPr lang="en-US" sz="2800" dirty="0">
                <a:solidFill>
                  <a:srgbClr val="000000"/>
                </a:solidFill>
                <a:latin typeface="Roboto Mono Regular Bold"/>
              </a:rPr>
              <a:t> </a:t>
            </a:r>
            <a:r>
              <a:rPr lang="en-US" sz="2800" dirty="0" err="1">
                <a:solidFill>
                  <a:srgbClr val="000000"/>
                </a:solidFill>
                <a:latin typeface="Roboto Mono Regular Bold"/>
              </a:rPr>
              <a:t>bahwa</a:t>
            </a:r>
            <a:r>
              <a:rPr lang="en-US" sz="2800" dirty="0">
                <a:solidFill>
                  <a:srgbClr val="000000"/>
                </a:solidFill>
                <a:latin typeface="Roboto Mono Regular Bold"/>
              </a:rPr>
              <a:t> </a:t>
            </a:r>
            <a:r>
              <a:rPr lang="en-US" sz="2800" dirty="0" err="1">
                <a:solidFill>
                  <a:srgbClr val="000000"/>
                </a:solidFill>
                <a:latin typeface="Roboto Mono Regular Bold"/>
              </a:rPr>
              <a:t>kepulauan</a:t>
            </a:r>
            <a:r>
              <a:rPr lang="en-US" sz="2800" dirty="0">
                <a:solidFill>
                  <a:srgbClr val="000000"/>
                </a:solidFill>
                <a:latin typeface="Roboto Mono Regular Bold"/>
              </a:rPr>
              <a:t> Indonesia </a:t>
            </a:r>
            <a:r>
              <a:rPr lang="en-US" sz="2800" dirty="0" err="1">
                <a:solidFill>
                  <a:srgbClr val="000000"/>
                </a:solidFill>
                <a:latin typeface="Roboto Mono Regular Bold"/>
              </a:rPr>
              <a:t>merupakan</a:t>
            </a:r>
            <a:r>
              <a:rPr lang="en-US" sz="2800" dirty="0">
                <a:solidFill>
                  <a:srgbClr val="000000"/>
                </a:solidFill>
                <a:latin typeface="Roboto Mono Regular Bold"/>
              </a:rPr>
              <a:t> </a:t>
            </a:r>
            <a:r>
              <a:rPr lang="en-US" sz="2800" dirty="0" err="1">
                <a:solidFill>
                  <a:srgbClr val="000000"/>
                </a:solidFill>
                <a:latin typeface="Roboto Mono Regular Bold"/>
              </a:rPr>
              <a:t>satu</a:t>
            </a:r>
            <a:r>
              <a:rPr lang="en-US" sz="2800" dirty="0">
                <a:solidFill>
                  <a:srgbClr val="000000"/>
                </a:solidFill>
                <a:latin typeface="Roboto Mono Regular Bold"/>
              </a:rPr>
              <a:t> </a:t>
            </a:r>
            <a:r>
              <a:rPr lang="en-US" sz="2800" dirty="0" err="1">
                <a:solidFill>
                  <a:srgbClr val="000000"/>
                </a:solidFill>
                <a:latin typeface="Roboto Mono Regular Bold"/>
              </a:rPr>
              <a:t>kesatuan</a:t>
            </a:r>
            <a:r>
              <a:rPr lang="en-US" sz="2800" dirty="0">
                <a:solidFill>
                  <a:srgbClr val="000000"/>
                </a:solidFill>
                <a:latin typeface="Roboto Mono Regular Bold"/>
              </a:rPr>
              <a:t>. </a:t>
            </a:r>
            <a:r>
              <a:rPr lang="en-US" sz="2800" dirty="0" err="1">
                <a:solidFill>
                  <a:srgbClr val="000000"/>
                </a:solidFill>
                <a:latin typeface="Roboto Mono Regular Bold"/>
              </a:rPr>
              <a:t>Pada</a:t>
            </a:r>
            <a:r>
              <a:rPr lang="en-US" sz="2800" dirty="0">
                <a:solidFill>
                  <a:srgbClr val="000000"/>
                </a:solidFill>
                <a:latin typeface="Roboto Mono Regular Bold"/>
              </a:rPr>
              <a:t> </a:t>
            </a:r>
            <a:r>
              <a:rPr lang="en-US" sz="2800" dirty="0" err="1">
                <a:solidFill>
                  <a:srgbClr val="000000"/>
                </a:solidFill>
                <a:latin typeface="Roboto Mono Regular Bold"/>
              </a:rPr>
              <a:t>peta</a:t>
            </a:r>
            <a:r>
              <a:rPr lang="en-US" sz="2800" dirty="0">
                <a:solidFill>
                  <a:srgbClr val="000000"/>
                </a:solidFill>
                <a:latin typeface="Roboto Mono Regular Bold"/>
              </a:rPr>
              <a:t> </a:t>
            </a:r>
            <a:r>
              <a:rPr lang="en-US" sz="2800" dirty="0" err="1">
                <a:solidFill>
                  <a:srgbClr val="000000"/>
                </a:solidFill>
                <a:latin typeface="Roboto Mono Regular Bold"/>
              </a:rPr>
              <a:t>itu</a:t>
            </a:r>
            <a:r>
              <a:rPr lang="en-US" sz="2800" dirty="0">
                <a:solidFill>
                  <a:srgbClr val="000000"/>
                </a:solidFill>
                <a:latin typeface="Roboto Mono Regular Bold"/>
              </a:rPr>
              <a:t> </a:t>
            </a:r>
            <a:r>
              <a:rPr lang="en-US" sz="2800" dirty="0" err="1">
                <a:solidFill>
                  <a:srgbClr val="000000"/>
                </a:solidFill>
                <a:latin typeface="Roboto Mono Regular Bold"/>
              </a:rPr>
              <a:t>dapat</a:t>
            </a:r>
            <a:r>
              <a:rPr lang="en-US" sz="2800" dirty="0">
                <a:solidFill>
                  <a:srgbClr val="000000"/>
                </a:solidFill>
                <a:latin typeface="Roboto Mono Regular Bold"/>
              </a:rPr>
              <a:t> </a:t>
            </a:r>
            <a:r>
              <a:rPr lang="en-US" sz="2800" dirty="0" err="1">
                <a:solidFill>
                  <a:srgbClr val="000000"/>
                </a:solidFill>
                <a:latin typeface="Roboto Mono Regular Bold"/>
              </a:rPr>
              <a:t>ditunjukkan</a:t>
            </a:r>
            <a:r>
              <a:rPr lang="en-US" sz="2800" dirty="0">
                <a:solidFill>
                  <a:srgbClr val="000000"/>
                </a:solidFill>
                <a:latin typeface="Roboto Mono Regular Bold"/>
              </a:rPr>
              <a:t> </a:t>
            </a:r>
            <a:r>
              <a:rPr lang="en-US" sz="2800" dirty="0" err="1">
                <a:solidFill>
                  <a:srgbClr val="000000"/>
                </a:solidFill>
                <a:latin typeface="Roboto Mono Regular Bold"/>
              </a:rPr>
              <a:t>satu</a:t>
            </a:r>
            <a:r>
              <a:rPr lang="en-US" sz="2800" dirty="0">
                <a:solidFill>
                  <a:srgbClr val="000000"/>
                </a:solidFill>
                <a:latin typeface="Roboto Mono Regular Bold"/>
              </a:rPr>
              <a:t> </a:t>
            </a:r>
            <a:r>
              <a:rPr lang="en-US" sz="2800" dirty="0" err="1">
                <a:solidFill>
                  <a:srgbClr val="000000"/>
                </a:solidFill>
                <a:latin typeface="Roboto Mono Regular Bold"/>
              </a:rPr>
              <a:t>kesatuan</a:t>
            </a:r>
            <a:r>
              <a:rPr lang="en-US" sz="2800" dirty="0">
                <a:solidFill>
                  <a:srgbClr val="000000"/>
                </a:solidFill>
                <a:latin typeface="Roboto Mono Regular Bold"/>
              </a:rPr>
              <a:t> </a:t>
            </a:r>
            <a:r>
              <a:rPr lang="en-US" sz="2800" dirty="0" err="1">
                <a:solidFill>
                  <a:srgbClr val="000000"/>
                </a:solidFill>
                <a:latin typeface="Roboto Mono Regular Bold"/>
              </a:rPr>
              <a:t>gerombolan</a:t>
            </a:r>
            <a:r>
              <a:rPr lang="en-US" sz="2800" dirty="0">
                <a:solidFill>
                  <a:srgbClr val="000000"/>
                </a:solidFill>
                <a:latin typeface="Roboto Mono Regular Bold"/>
              </a:rPr>
              <a:t> </a:t>
            </a:r>
            <a:r>
              <a:rPr lang="en-US" sz="2800" dirty="0" err="1">
                <a:solidFill>
                  <a:srgbClr val="000000"/>
                </a:solidFill>
                <a:latin typeface="Roboto Mono Regular Bold"/>
              </a:rPr>
              <a:t>pulau</a:t>
            </a:r>
            <a:r>
              <a:rPr lang="en-US" sz="2800" dirty="0">
                <a:solidFill>
                  <a:srgbClr val="000000"/>
                </a:solidFill>
                <a:latin typeface="Roboto Mono Regular Bold"/>
              </a:rPr>
              <a:t> </a:t>
            </a:r>
            <a:r>
              <a:rPr lang="en-US" sz="2800" dirty="0" err="1">
                <a:solidFill>
                  <a:srgbClr val="000000"/>
                </a:solidFill>
                <a:latin typeface="Roboto Mono Regular Bold"/>
              </a:rPr>
              <a:t>pulau</a:t>
            </a:r>
            <a:r>
              <a:rPr lang="en-US" sz="2800" dirty="0">
                <a:solidFill>
                  <a:srgbClr val="000000"/>
                </a:solidFill>
                <a:latin typeface="Roboto Mono Regular Bold"/>
              </a:rPr>
              <a:t> di </a:t>
            </a:r>
            <a:r>
              <a:rPr lang="en-US" sz="2800" dirty="0" err="1">
                <a:solidFill>
                  <a:srgbClr val="000000"/>
                </a:solidFill>
                <a:latin typeface="Roboto Mono Regular Bold"/>
              </a:rPr>
              <a:t>antara</a:t>
            </a:r>
            <a:r>
              <a:rPr lang="en-US" sz="2800" dirty="0">
                <a:solidFill>
                  <a:srgbClr val="000000"/>
                </a:solidFill>
                <a:latin typeface="Roboto Mono Regular Bold"/>
              </a:rPr>
              <a:t> </a:t>
            </a:r>
            <a:r>
              <a:rPr lang="en-US" sz="2800" dirty="0" err="1">
                <a:solidFill>
                  <a:srgbClr val="000000"/>
                </a:solidFill>
                <a:latin typeface="Roboto Mono Regular Bold"/>
              </a:rPr>
              <a:t>dua</a:t>
            </a:r>
            <a:r>
              <a:rPr lang="en-US" sz="2800" dirty="0">
                <a:solidFill>
                  <a:srgbClr val="000000"/>
                </a:solidFill>
                <a:latin typeface="Roboto Mono Regular Bold"/>
              </a:rPr>
              <a:t> </a:t>
            </a:r>
            <a:r>
              <a:rPr lang="en-US" sz="2800" dirty="0" err="1">
                <a:solidFill>
                  <a:srgbClr val="000000"/>
                </a:solidFill>
                <a:latin typeface="Roboto Mono Regular Bold"/>
              </a:rPr>
              <a:t>lautan</a:t>
            </a:r>
            <a:r>
              <a:rPr lang="en-US" sz="2800" dirty="0">
                <a:solidFill>
                  <a:srgbClr val="000000"/>
                </a:solidFill>
                <a:latin typeface="Roboto Mono Regular Bold"/>
              </a:rPr>
              <a:t> yang </a:t>
            </a:r>
            <a:r>
              <a:rPr lang="en-US" sz="2800" dirty="0" err="1">
                <a:solidFill>
                  <a:srgbClr val="000000"/>
                </a:solidFill>
                <a:latin typeface="Roboto Mono Regular Bold"/>
              </a:rPr>
              <a:t>besar</a:t>
            </a:r>
            <a:r>
              <a:rPr lang="en-US" sz="2800" dirty="0">
                <a:solidFill>
                  <a:srgbClr val="000000"/>
                </a:solidFill>
                <a:latin typeface="Roboto Mono Regular Bold"/>
              </a:rPr>
              <a:t>, </a:t>
            </a:r>
            <a:r>
              <a:rPr lang="en-US" sz="2800" dirty="0" err="1">
                <a:solidFill>
                  <a:srgbClr val="000000"/>
                </a:solidFill>
                <a:latin typeface="Roboto Mono Regular Bold"/>
              </a:rPr>
              <a:t>lautan</a:t>
            </a:r>
            <a:r>
              <a:rPr lang="en-US" sz="2800" dirty="0">
                <a:solidFill>
                  <a:srgbClr val="000000"/>
                </a:solidFill>
                <a:latin typeface="Roboto Mono Regular Bold"/>
              </a:rPr>
              <a:t> </a:t>
            </a:r>
            <a:r>
              <a:rPr lang="en-US" sz="2800" dirty="0" err="1">
                <a:solidFill>
                  <a:srgbClr val="000000"/>
                </a:solidFill>
                <a:latin typeface="Roboto Mono Regular Bold"/>
              </a:rPr>
              <a:t>pasific</a:t>
            </a:r>
            <a:r>
              <a:rPr lang="en-US" sz="2800" dirty="0">
                <a:solidFill>
                  <a:srgbClr val="000000"/>
                </a:solidFill>
                <a:latin typeface="Roboto Mono Regular Bold"/>
              </a:rPr>
              <a:t> </a:t>
            </a:r>
            <a:r>
              <a:rPr lang="en-US" sz="2800" dirty="0" err="1">
                <a:solidFill>
                  <a:srgbClr val="000000"/>
                </a:solidFill>
                <a:latin typeface="Roboto Mono Regular Bold"/>
              </a:rPr>
              <a:t>dan</a:t>
            </a:r>
            <a:r>
              <a:rPr lang="en-US" sz="2800" dirty="0">
                <a:solidFill>
                  <a:srgbClr val="000000"/>
                </a:solidFill>
                <a:latin typeface="Roboto Mono Regular Bold"/>
              </a:rPr>
              <a:t> </a:t>
            </a:r>
            <a:r>
              <a:rPr lang="en-US" sz="2800" dirty="0" err="1">
                <a:solidFill>
                  <a:srgbClr val="000000"/>
                </a:solidFill>
                <a:latin typeface="Roboto Mono Regular Bold"/>
              </a:rPr>
              <a:t>lautan</a:t>
            </a:r>
            <a:r>
              <a:rPr lang="en-US" sz="2800" dirty="0">
                <a:solidFill>
                  <a:srgbClr val="000000"/>
                </a:solidFill>
                <a:latin typeface="Roboto Mono Regular Bold"/>
              </a:rPr>
              <a:t> </a:t>
            </a:r>
            <a:r>
              <a:rPr lang="en-US" sz="2800" dirty="0" err="1">
                <a:solidFill>
                  <a:srgbClr val="000000"/>
                </a:solidFill>
                <a:latin typeface="Roboto Mono Regular Bold"/>
              </a:rPr>
              <a:t>Hindia</a:t>
            </a:r>
            <a:r>
              <a:rPr lang="en-US" sz="2800" dirty="0">
                <a:solidFill>
                  <a:srgbClr val="000000"/>
                </a:solidFill>
                <a:latin typeface="Roboto Mono Regular Bold"/>
              </a:rPr>
              <a:t>, </a:t>
            </a:r>
            <a:r>
              <a:rPr lang="en-US" sz="2800" dirty="0" err="1">
                <a:solidFill>
                  <a:srgbClr val="000000"/>
                </a:solidFill>
                <a:latin typeface="Roboto Mono Regular Bold"/>
              </a:rPr>
              <a:t>dan</a:t>
            </a:r>
            <a:r>
              <a:rPr lang="en-US" sz="2800" dirty="0">
                <a:solidFill>
                  <a:srgbClr val="000000"/>
                </a:solidFill>
                <a:latin typeface="Roboto Mono Regular Bold"/>
              </a:rPr>
              <a:t> di </a:t>
            </a:r>
            <a:r>
              <a:rPr lang="en-US" sz="2800" dirty="0" err="1">
                <a:solidFill>
                  <a:srgbClr val="000000"/>
                </a:solidFill>
                <a:latin typeface="Roboto Mono Regular Bold"/>
              </a:rPr>
              <a:t>antara</a:t>
            </a:r>
            <a:r>
              <a:rPr lang="en-US" sz="2800" dirty="0">
                <a:solidFill>
                  <a:srgbClr val="000000"/>
                </a:solidFill>
                <a:latin typeface="Roboto Mono Regular Bold"/>
              </a:rPr>
              <a:t> </a:t>
            </a:r>
            <a:r>
              <a:rPr lang="en-US" sz="2800" dirty="0" err="1">
                <a:solidFill>
                  <a:srgbClr val="000000"/>
                </a:solidFill>
                <a:latin typeface="Roboto Mono Regular Bold"/>
              </a:rPr>
              <a:t>dua</a:t>
            </a:r>
            <a:r>
              <a:rPr lang="en-US" sz="2800" dirty="0">
                <a:solidFill>
                  <a:srgbClr val="000000"/>
                </a:solidFill>
                <a:latin typeface="Roboto Mono Regular Bold"/>
              </a:rPr>
              <a:t> </a:t>
            </a:r>
            <a:r>
              <a:rPr lang="en-US" sz="2800" dirty="0" err="1">
                <a:solidFill>
                  <a:srgbClr val="000000"/>
                </a:solidFill>
                <a:latin typeface="Roboto Mono Regular Bold"/>
              </a:rPr>
              <a:t>benua</a:t>
            </a:r>
            <a:r>
              <a:rPr lang="en-US" sz="2800" dirty="0">
                <a:solidFill>
                  <a:srgbClr val="000000"/>
                </a:solidFill>
                <a:latin typeface="Roboto Mono Regular Bold"/>
              </a:rPr>
              <a:t>, </a:t>
            </a:r>
            <a:r>
              <a:rPr lang="en-US" sz="2800" dirty="0" err="1">
                <a:solidFill>
                  <a:srgbClr val="000000"/>
                </a:solidFill>
                <a:latin typeface="Roboto Mono Regular Bold"/>
              </a:rPr>
              <a:t>yaitu</a:t>
            </a:r>
            <a:r>
              <a:rPr lang="en-US" sz="2800" dirty="0">
                <a:solidFill>
                  <a:srgbClr val="000000"/>
                </a:solidFill>
                <a:latin typeface="Roboto Mono Regular Bold"/>
              </a:rPr>
              <a:t> </a:t>
            </a:r>
            <a:r>
              <a:rPr lang="en-US" sz="2800" dirty="0" err="1">
                <a:solidFill>
                  <a:srgbClr val="000000"/>
                </a:solidFill>
                <a:latin typeface="Roboto Mono Regular Bold"/>
              </a:rPr>
              <a:t>benua</a:t>
            </a:r>
            <a:r>
              <a:rPr lang="en-US" sz="2800" dirty="0">
                <a:solidFill>
                  <a:srgbClr val="000000"/>
                </a:solidFill>
                <a:latin typeface="Roboto Mono Regular Bold"/>
              </a:rPr>
              <a:t> Asia </a:t>
            </a:r>
            <a:r>
              <a:rPr lang="en-US" sz="2800" dirty="0" err="1">
                <a:solidFill>
                  <a:srgbClr val="000000"/>
                </a:solidFill>
                <a:latin typeface="Roboto Mono Regular Bold"/>
              </a:rPr>
              <a:t>dan</a:t>
            </a:r>
            <a:r>
              <a:rPr lang="en-US" sz="2800" dirty="0">
                <a:solidFill>
                  <a:srgbClr val="000000"/>
                </a:solidFill>
                <a:latin typeface="Roboto Mono Regular Bold"/>
              </a:rPr>
              <a:t> </a:t>
            </a:r>
            <a:r>
              <a:rPr lang="en-US" sz="2800" dirty="0" err="1">
                <a:solidFill>
                  <a:srgbClr val="000000"/>
                </a:solidFill>
                <a:latin typeface="Roboto Mono Regular Bold"/>
              </a:rPr>
              <a:t>benua</a:t>
            </a:r>
            <a:r>
              <a:rPr lang="en-US" sz="2800" dirty="0">
                <a:solidFill>
                  <a:srgbClr val="000000"/>
                </a:solidFill>
                <a:latin typeface="Roboto Mono Regular Bold"/>
              </a:rPr>
              <a:t> Australia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DF43"/>
        </a:solidFill>
        <a:effectLst/>
      </p:bgPr>
    </p:bg>
    <p:spTree>
      <p:nvGrpSpPr>
        <p:cNvPr id="1" name=""/>
        <p:cNvGrpSpPr/>
        <p:nvPr/>
      </p:nvGrpSpPr>
      <p:grpSpPr>
        <a:xfrm>
          <a:off x="0" y="0"/>
          <a:ext cx="0" cy="0"/>
          <a:chOff x="0" y="0"/>
          <a:chExt cx="0" cy="0"/>
        </a:xfrm>
      </p:grpSpPr>
      <p:sp>
        <p:nvSpPr>
          <p:cNvPr id="2" name="AutoShape 2"/>
          <p:cNvSpPr/>
          <p:nvPr/>
        </p:nvSpPr>
        <p:spPr>
          <a:xfrm>
            <a:off x="1028700" y="1409528"/>
            <a:ext cx="16230600" cy="8877472"/>
          </a:xfrm>
          <a:prstGeom prst="rect">
            <a:avLst/>
          </a:prstGeom>
          <a:solidFill>
            <a:srgbClr val="FFFBEC"/>
          </a:solidFill>
        </p:spPr>
      </p:sp>
      <p:sp>
        <p:nvSpPr>
          <p:cNvPr id="3" name="TextBox 3"/>
          <p:cNvSpPr txBox="1"/>
          <p:nvPr/>
        </p:nvSpPr>
        <p:spPr>
          <a:xfrm>
            <a:off x="2411813" y="2423795"/>
            <a:ext cx="16342411" cy="786765"/>
          </a:xfrm>
          <a:prstGeom prst="rect">
            <a:avLst/>
          </a:prstGeom>
        </p:spPr>
        <p:txBody>
          <a:bodyPr lIns="0" tIns="0" rIns="0" bIns="0" rtlCol="0" anchor="t">
            <a:spAutoFit/>
          </a:bodyPr>
          <a:lstStyle/>
          <a:p>
            <a:pPr>
              <a:lnSpc>
                <a:spcPts val="6120"/>
              </a:lnSpc>
            </a:pPr>
            <a:r>
              <a:rPr lang="en-US" sz="5100">
                <a:solidFill>
                  <a:srgbClr val="000000"/>
                </a:solidFill>
                <a:latin typeface="Roboto Mono Regular Bold"/>
              </a:rPr>
              <a:t>MENGGALI SUMBER HISTORIS</a:t>
            </a:r>
          </a:p>
        </p:txBody>
      </p:sp>
      <p:sp>
        <p:nvSpPr>
          <p:cNvPr id="4" name="AutoShape 4"/>
          <p:cNvSpPr/>
          <p:nvPr/>
        </p:nvSpPr>
        <p:spPr>
          <a:xfrm>
            <a:off x="1028700" y="3481195"/>
            <a:ext cx="16230600" cy="0"/>
          </a:xfrm>
          <a:prstGeom prst="line">
            <a:avLst/>
          </a:prstGeom>
          <a:ln w="19050" cap="rnd">
            <a:solidFill>
              <a:srgbClr val="000000"/>
            </a:solidFill>
            <a:prstDash val="solid"/>
            <a:headEnd type="none" w="sm" len="sm"/>
            <a:tailEnd type="none" w="sm" len="sm"/>
          </a:ln>
        </p:spPr>
      </p:sp>
      <p:sp>
        <p:nvSpPr>
          <p:cNvPr id="5" name="TextBox 5"/>
          <p:cNvSpPr txBox="1"/>
          <p:nvPr/>
        </p:nvSpPr>
        <p:spPr>
          <a:xfrm>
            <a:off x="1689456" y="4145454"/>
            <a:ext cx="14909089" cy="5701574"/>
          </a:xfrm>
          <a:prstGeom prst="rect">
            <a:avLst/>
          </a:prstGeom>
        </p:spPr>
        <p:txBody>
          <a:bodyPr lIns="0" tIns="0" rIns="0" bIns="0" rtlCol="0" anchor="t">
            <a:spAutoFit/>
          </a:bodyPr>
          <a:lstStyle/>
          <a:p>
            <a:pPr marL="686761" lvl="1" indent="-343381">
              <a:lnSpc>
                <a:spcPts val="4135"/>
              </a:lnSpc>
              <a:buFont typeface="Arial"/>
              <a:buChar char="•"/>
            </a:pPr>
            <a:r>
              <a:rPr lang="en-US" sz="3180">
                <a:solidFill>
                  <a:srgbClr val="000000"/>
                </a:solidFill>
                <a:latin typeface="Roboto Mono Regular Bold"/>
              </a:rPr>
              <a:t>1)Latar Belakang Historis Wawasan Nusantara, bermula dari Perdana Menteri Ir.H. Djuanda Kartawidjaja yang pada tanggal 13 Desember 1957 mengeluarkan Deklarasi Djuanda. Isi pokok deklarasi adalah lebar laut territorial Indonesia 12 mil yang dihitung dari garis yang menghubungkan pulau terluar Indonesia. Dengan garis territorial yang baru ini wilayah Indonesia menjadi satu kesatuan wilayah. Laut antara pulau bukan lagi pemisah karena tidak lagi laut bebas, tetapi sebagai penghubung pulau</a:t>
            </a:r>
          </a:p>
          <a:p>
            <a:pPr>
              <a:lnSpc>
                <a:spcPts val="4135"/>
              </a:lnSpc>
            </a:pPr>
            <a:endParaRPr lang="en-US" sz="3180">
              <a:solidFill>
                <a:srgbClr val="000000"/>
              </a:solidFill>
              <a:latin typeface="Roboto Mono Regular Bold"/>
            </a:endParaR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411813" y="295288"/>
            <a:ext cx="1677300" cy="1686499"/>
          </a:xfrm>
          <a:prstGeom prst="rect">
            <a:avLst/>
          </a:prstGeom>
        </p:spPr>
      </p:pic>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87900" y="295288"/>
            <a:ext cx="1677300" cy="16864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BCEBF"/>
        </a:solidFill>
        <a:effectLst/>
      </p:bgPr>
    </p:bg>
    <p:spTree>
      <p:nvGrpSpPr>
        <p:cNvPr id="1" name=""/>
        <p:cNvGrpSpPr/>
        <p:nvPr/>
      </p:nvGrpSpPr>
      <p:grpSpPr>
        <a:xfrm>
          <a:off x="0" y="0"/>
          <a:ext cx="0" cy="0"/>
          <a:chOff x="0" y="0"/>
          <a:chExt cx="0" cy="0"/>
        </a:xfrm>
      </p:grpSpPr>
      <p:sp>
        <p:nvSpPr>
          <p:cNvPr id="2" name="AutoShape 2"/>
          <p:cNvSpPr/>
          <p:nvPr/>
        </p:nvSpPr>
        <p:spPr>
          <a:xfrm>
            <a:off x="1028700" y="1409528"/>
            <a:ext cx="16230600" cy="8877472"/>
          </a:xfrm>
          <a:prstGeom prst="rect">
            <a:avLst/>
          </a:prstGeom>
          <a:solidFill>
            <a:srgbClr val="FFFBEC"/>
          </a:solidFill>
        </p:spPr>
      </p:sp>
      <p:sp>
        <p:nvSpPr>
          <p:cNvPr id="3" name="TextBox 3"/>
          <p:cNvSpPr txBox="1"/>
          <p:nvPr/>
        </p:nvSpPr>
        <p:spPr>
          <a:xfrm>
            <a:off x="1689456" y="3242889"/>
            <a:ext cx="14909089" cy="5182174"/>
          </a:xfrm>
          <a:prstGeom prst="rect">
            <a:avLst/>
          </a:prstGeom>
        </p:spPr>
        <p:txBody>
          <a:bodyPr lIns="0" tIns="0" rIns="0" bIns="0" rtlCol="0" anchor="t">
            <a:spAutoFit/>
          </a:bodyPr>
          <a:lstStyle/>
          <a:p>
            <a:pPr marL="686761" lvl="1" indent="-343381">
              <a:lnSpc>
                <a:spcPts val="4135"/>
              </a:lnSpc>
              <a:buFont typeface="Arial"/>
              <a:buChar char="•"/>
            </a:pPr>
            <a:r>
              <a:rPr lang="en-US" sz="3180">
                <a:solidFill>
                  <a:srgbClr val="000000"/>
                </a:solidFill>
                <a:latin typeface="Roboto Mono Regular Bold"/>
              </a:rPr>
              <a:t>Sebelum keluarnya deklarasi Djuanda, wilayah Indonesia didasarkan pada Territoriale Zee en Maritieme Kringen Ordonantie Maritieme Kringen Ordonantie 1939 atau dikenal dengan (TZMKO 1939) atau dikenal dengan nama ordonansi 1939, sebuah peraturan buatan pemerintah Hindia Belanda. Isi Ordonansi tersebut pada intinya adalah penentuan lebar laut lebar 3 mil laut dengan cara menarik garis pangkal berdasarkan garis air pasang surut atau countour pulau/darat</a:t>
            </a:r>
          </a:p>
          <a:p>
            <a:pPr>
              <a:lnSpc>
                <a:spcPts val="4135"/>
              </a:lnSpc>
            </a:pPr>
            <a:endParaRPr lang="en-US" sz="3180">
              <a:solidFill>
                <a:srgbClr val="000000"/>
              </a:solidFill>
              <a:latin typeface="Roboto Mono Regular Bold"/>
            </a:endParaRP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411813" y="295288"/>
            <a:ext cx="1677300" cy="1686499"/>
          </a:xfrm>
          <a:prstGeom prst="rect">
            <a:avLst/>
          </a:prstGeom>
        </p:spPr>
      </p:pic>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87900" y="295288"/>
            <a:ext cx="1677300" cy="16864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25525"/>
        </a:solidFill>
        <a:effectLst/>
      </p:bgPr>
    </p:bg>
    <p:spTree>
      <p:nvGrpSpPr>
        <p:cNvPr id="1" name=""/>
        <p:cNvGrpSpPr/>
        <p:nvPr/>
      </p:nvGrpSpPr>
      <p:grpSpPr>
        <a:xfrm>
          <a:off x="0" y="0"/>
          <a:ext cx="0" cy="0"/>
          <a:chOff x="0" y="0"/>
          <a:chExt cx="0" cy="0"/>
        </a:xfrm>
      </p:grpSpPr>
      <p:sp>
        <p:nvSpPr>
          <p:cNvPr id="2" name="AutoShape 2"/>
          <p:cNvSpPr/>
          <p:nvPr/>
        </p:nvSpPr>
        <p:spPr>
          <a:xfrm>
            <a:off x="1028700" y="1409528"/>
            <a:ext cx="16230600" cy="8877472"/>
          </a:xfrm>
          <a:prstGeom prst="rect">
            <a:avLst/>
          </a:prstGeom>
          <a:solidFill>
            <a:srgbClr val="FFFBEC"/>
          </a:solidFill>
        </p:spPr>
      </p:sp>
      <p:sp>
        <p:nvSpPr>
          <p:cNvPr id="3" name="TextBox 3"/>
          <p:cNvSpPr txBox="1"/>
          <p:nvPr/>
        </p:nvSpPr>
        <p:spPr>
          <a:xfrm>
            <a:off x="1689456" y="3242889"/>
            <a:ext cx="14909089" cy="4143375"/>
          </a:xfrm>
          <a:prstGeom prst="rect">
            <a:avLst/>
          </a:prstGeom>
        </p:spPr>
        <p:txBody>
          <a:bodyPr lIns="0" tIns="0" rIns="0" bIns="0" rtlCol="0" anchor="t">
            <a:spAutoFit/>
          </a:bodyPr>
          <a:lstStyle/>
          <a:p>
            <a:pPr marL="686761" lvl="1" indent="-343381">
              <a:lnSpc>
                <a:spcPts val="4135"/>
              </a:lnSpc>
              <a:buFont typeface="Arial"/>
              <a:buChar char="•"/>
            </a:pPr>
            <a:r>
              <a:rPr lang="en-US" sz="3180">
                <a:solidFill>
                  <a:srgbClr val="000000"/>
                </a:solidFill>
                <a:latin typeface="Roboto Mono Regular Bold"/>
              </a:rPr>
              <a:t>Dengan peraturan zaman Belanda tersebut, pulau pulau di wilayah nusantara dipisahkan oleh laut disekelilingnya dan setiap pulau hanya mempunyai laut di sekeliling sejauh 3 mil dari garis pantai. Laut setelah garis 3 mil merupakan lautan bebas yang berarti kapal asing boleh dengan bebas melayari laut yang memisahkan pulau pulau tersebut. Laut dengan demikian menjadi pemisah pulau pulau Indonesia</a:t>
            </a:r>
          </a:p>
          <a:p>
            <a:pPr>
              <a:lnSpc>
                <a:spcPts val="4135"/>
              </a:lnSpc>
            </a:pPr>
            <a:endParaRPr lang="en-US" sz="3180">
              <a:solidFill>
                <a:srgbClr val="000000"/>
              </a:solidFill>
              <a:latin typeface="Roboto Mono Regular Bold"/>
            </a:endParaRP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411813" y="295288"/>
            <a:ext cx="1677300" cy="1686499"/>
          </a:xfrm>
          <a:prstGeom prst="rect">
            <a:avLst/>
          </a:prstGeom>
        </p:spPr>
      </p:pic>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87900" y="295288"/>
            <a:ext cx="1677300" cy="16864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BEC"/>
        </a:solidFill>
        <a:effectLst/>
      </p:bgPr>
    </p:bg>
    <p:spTree>
      <p:nvGrpSpPr>
        <p:cNvPr id="1" name=""/>
        <p:cNvGrpSpPr/>
        <p:nvPr/>
      </p:nvGrpSpPr>
      <p:grpSpPr>
        <a:xfrm>
          <a:off x="0" y="0"/>
          <a:ext cx="0" cy="0"/>
          <a:chOff x="0" y="0"/>
          <a:chExt cx="0" cy="0"/>
        </a:xfrm>
      </p:grpSpPr>
      <p:grpSp>
        <p:nvGrpSpPr>
          <p:cNvPr id="2" name="Group 2"/>
          <p:cNvGrpSpPr/>
          <p:nvPr/>
        </p:nvGrpSpPr>
        <p:grpSpPr>
          <a:xfrm>
            <a:off x="734471" y="1827138"/>
            <a:ext cx="15972381" cy="9229973"/>
            <a:chOff x="0" y="0"/>
            <a:chExt cx="5490351" cy="3172714"/>
          </a:xfrm>
        </p:grpSpPr>
        <p:sp>
          <p:nvSpPr>
            <p:cNvPr id="3" name="Freeform 3"/>
            <p:cNvSpPr/>
            <p:nvPr/>
          </p:nvSpPr>
          <p:spPr>
            <a:xfrm>
              <a:off x="0" y="0"/>
              <a:ext cx="5490351" cy="3172714"/>
            </a:xfrm>
            <a:custGeom>
              <a:avLst/>
              <a:gdLst/>
              <a:ahLst/>
              <a:cxnLst/>
              <a:rect l="l" t="t" r="r" b="b"/>
              <a:pathLst>
                <a:path w="5490351" h="3172714">
                  <a:moveTo>
                    <a:pt x="5365891" y="3172714"/>
                  </a:moveTo>
                  <a:lnTo>
                    <a:pt x="124460" y="3172714"/>
                  </a:lnTo>
                  <a:cubicBezTo>
                    <a:pt x="55880" y="3172714"/>
                    <a:pt x="0" y="3116834"/>
                    <a:pt x="0" y="3048254"/>
                  </a:cubicBezTo>
                  <a:lnTo>
                    <a:pt x="0" y="124460"/>
                  </a:lnTo>
                  <a:cubicBezTo>
                    <a:pt x="0" y="55880"/>
                    <a:pt x="55880" y="0"/>
                    <a:pt x="124460" y="0"/>
                  </a:cubicBezTo>
                  <a:lnTo>
                    <a:pt x="5365891" y="0"/>
                  </a:lnTo>
                  <a:cubicBezTo>
                    <a:pt x="5434471" y="0"/>
                    <a:pt x="5490351" y="55880"/>
                    <a:pt x="5490351" y="124460"/>
                  </a:cubicBezTo>
                  <a:lnTo>
                    <a:pt x="5490351" y="3048254"/>
                  </a:lnTo>
                  <a:cubicBezTo>
                    <a:pt x="5490351" y="3116834"/>
                    <a:pt x="5434471" y="3172714"/>
                    <a:pt x="5365891" y="3172714"/>
                  </a:cubicBezTo>
                  <a:close/>
                </a:path>
              </a:pathLst>
            </a:custGeom>
            <a:solidFill>
              <a:srgbClr val="D25525"/>
            </a:solidFill>
          </p:spPr>
        </p:sp>
      </p:grpSp>
      <p:grpSp>
        <p:nvGrpSpPr>
          <p:cNvPr id="4" name="Group 4"/>
          <p:cNvGrpSpPr/>
          <p:nvPr/>
        </p:nvGrpSpPr>
        <p:grpSpPr>
          <a:xfrm rot="-10800000">
            <a:off x="1433554" y="1123950"/>
            <a:ext cx="5939862" cy="929058"/>
            <a:chOff x="0" y="0"/>
            <a:chExt cx="38779425" cy="6065520"/>
          </a:xfrm>
        </p:grpSpPr>
        <p:sp>
          <p:nvSpPr>
            <p:cNvPr id="5" name="Freeform 5"/>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D25525"/>
            </a:solidFill>
          </p:spPr>
        </p:sp>
      </p:grpSp>
      <p:grpSp>
        <p:nvGrpSpPr>
          <p:cNvPr id="6" name="Group 6"/>
          <p:cNvGrpSpPr/>
          <p:nvPr/>
        </p:nvGrpSpPr>
        <p:grpSpPr>
          <a:xfrm>
            <a:off x="1703426" y="1588479"/>
            <a:ext cx="15555874" cy="9381757"/>
            <a:chOff x="0" y="0"/>
            <a:chExt cx="20741165" cy="12509009"/>
          </a:xfrm>
        </p:grpSpPr>
        <p:grpSp>
          <p:nvGrpSpPr>
            <p:cNvPr id="7" name="Group 7"/>
            <p:cNvGrpSpPr/>
            <p:nvPr/>
          </p:nvGrpSpPr>
          <p:grpSpPr>
            <a:xfrm>
              <a:off x="0" y="1142541"/>
              <a:ext cx="20741165" cy="11366468"/>
              <a:chOff x="0" y="0"/>
              <a:chExt cx="5490351" cy="3008794"/>
            </a:xfrm>
          </p:grpSpPr>
          <p:sp>
            <p:nvSpPr>
              <p:cNvPr id="8" name="Freeform 8"/>
              <p:cNvSpPr/>
              <p:nvPr/>
            </p:nvSpPr>
            <p:spPr>
              <a:xfrm>
                <a:off x="0" y="0"/>
                <a:ext cx="5490351" cy="3008794"/>
              </a:xfrm>
              <a:custGeom>
                <a:avLst/>
                <a:gdLst/>
                <a:ahLst/>
                <a:cxnLst/>
                <a:rect l="l" t="t" r="r" b="b"/>
                <a:pathLst>
                  <a:path w="5490351" h="3008794">
                    <a:moveTo>
                      <a:pt x="5365891" y="3008794"/>
                    </a:moveTo>
                    <a:lnTo>
                      <a:pt x="124460" y="3008794"/>
                    </a:lnTo>
                    <a:cubicBezTo>
                      <a:pt x="55880" y="3008794"/>
                      <a:pt x="0" y="2952914"/>
                      <a:pt x="0" y="2884334"/>
                    </a:cubicBezTo>
                    <a:lnTo>
                      <a:pt x="0" y="124460"/>
                    </a:lnTo>
                    <a:cubicBezTo>
                      <a:pt x="0" y="55880"/>
                      <a:pt x="55880" y="0"/>
                      <a:pt x="124460" y="0"/>
                    </a:cubicBezTo>
                    <a:lnTo>
                      <a:pt x="5365891" y="0"/>
                    </a:lnTo>
                    <a:cubicBezTo>
                      <a:pt x="5434471" y="0"/>
                      <a:pt x="5490351" y="55880"/>
                      <a:pt x="5490351" y="124460"/>
                    </a:cubicBezTo>
                    <a:lnTo>
                      <a:pt x="5490351" y="2884334"/>
                    </a:lnTo>
                    <a:cubicBezTo>
                      <a:pt x="5490351" y="2952914"/>
                      <a:pt x="5434471" y="3008794"/>
                      <a:pt x="5365891" y="3008794"/>
                    </a:cubicBezTo>
                    <a:close/>
                  </a:path>
                </a:pathLst>
              </a:custGeom>
              <a:solidFill>
                <a:srgbClr val="F89D2F"/>
              </a:solidFill>
            </p:spPr>
          </p:sp>
        </p:grpSp>
        <p:grpSp>
          <p:nvGrpSpPr>
            <p:cNvPr id="9" name="Group 9"/>
            <p:cNvGrpSpPr/>
            <p:nvPr/>
          </p:nvGrpSpPr>
          <p:grpSpPr>
            <a:xfrm rot="-10800000">
              <a:off x="10688424" y="0"/>
              <a:ext cx="8880221" cy="1388962"/>
              <a:chOff x="0" y="0"/>
              <a:chExt cx="38779425" cy="6065520"/>
            </a:xfrm>
          </p:grpSpPr>
          <p:sp>
            <p:nvSpPr>
              <p:cNvPr id="10" name="Freeform 10"/>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89D2F"/>
              </a:solidFill>
            </p:spPr>
          </p:sp>
        </p:grpSp>
      </p:gr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332594">
            <a:off x="-652782" y="6959519"/>
            <a:ext cx="3362963" cy="3186408"/>
          </a:xfrm>
          <a:prstGeom prst="rect">
            <a:avLst/>
          </a:prstGeom>
        </p:spPr>
      </p:pic>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817225">
            <a:off x="17641458" y="-900782"/>
            <a:ext cx="508987" cy="7998371"/>
          </a:xfrm>
          <a:prstGeom prst="rect">
            <a:avLst/>
          </a:prstGeom>
        </p:spPr>
      </p:pic>
      <p:pic>
        <p:nvPicPr>
          <p:cNvPr id="13" name="Picture 13"/>
          <p:cNvPicPr>
            <a:picLocks noChangeAspect="1"/>
          </p:cNvPicPr>
          <p:nvPr/>
        </p:nvPicPr>
        <p:blipFill>
          <a:blip r:embed="rId6"/>
          <a:srcRect/>
          <a:stretch>
            <a:fillRect/>
          </a:stretch>
        </p:blipFill>
        <p:spPr>
          <a:xfrm>
            <a:off x="5339368" y="5693256"/>
            <a:ext cx="7609263" cy="4327768"/>
          </a:xfrm>
          <a:prstGeom prst="rect">
            <a:avLst/>
          </a:prstGeom>
        </p:spPr>
      </p:pic>
      <p:sp>
        <p:nvSpPr>
          <p:cNvPr id="14" name="TextBox 14"/>
          <p:cNvSpPr txBox="1"/>
          <p:nvPr/>
        </p:nvSpPr>
        <p:spPr>
          <a:xfrm>
            <a:off x="1589904" y="2878462"/>
            <a:ext cx="15108191" cy="2667397"/>
          </a:xfrm>
          <a:prstGeom prst="rect">
            <a:avLst/>
          </a:prstGeom>
        </p:spPr>
        <p:txBody>
          <a:bodyPr lIns="0" tIns="0" rIns="0" bIns="0" rtlCol="0" anchor="t">
            <a:spAutoFit/>
          </a:bodyPr>
          <a:lstStyle/>
          <a:p>
            <a:pPr algn="ctr">
              <a:lnSpc>
                <a:spcPts val="5160"/>
              </a:lnSpc>
            </a:pPr>
            <a:r>
              <a:rPr lang="en-US" sz="4300" dirty="0">
                <a:solidFill>
                  <a:srgbClr val="FFFBEC"/>
                </a:solidFill>
                <a:latin typeface="Roboto Mono Regular Bold"/>
              </a:rPr>
              <a:t>UNTUK MELIHAT PERBEDAAN KEDUA WILAYAH TERSEBUT, LIHATLAH GAMBAR BERIKUT : PETA WILAYAH INDONESIA </a:t>
            </a:r>
            <a:r>
              <a:rPr lang="en-US" sz="4300" dirty="0" smtClean="0">
                <a:solidFill>
                  <a:srgbClr val="FFFBEC"/>
                </a:solidFill>
                <a:latin typeface="Roboto Mono Regular Bold"/>
              </a:rPr>
              <a:t>BERADASAR </a:t>
            </a:r>
            <a:r>
              <a:rPr lang="en-US" sz="4300" dirty="0">
                <a:solidFill>
                  <a:srgbClr val="FFFBEC"/>
                </a:solidFill>
                <a:latin typeface="Roboto Mono Regular Bold"/>
              </a:rPr>
              <a:t>ORDONAMSI 1939 SUMBER:HTTPS//WWW.GOOGLE.COM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BEC"/>
        </a:solidFill>
        <a:effectLst/>
      </p:bgPr>
    </p:bg>
    <p:spTree>
      <p:nvGrpSpPr>
        <p:cNvPr id="1" name=""/>
        <p:cNvGrpSpPr/>
        <p:nvPr/>
      </p:nvGrpSpPr>
      <p:grpSpPr>
        <a:xfrm>
          <a:off x="0" y="0"/>
          <a:ext cx="0" cy="0"/>
          <a:chOff x="0" y="0"/>
          <a:chExt cx="0" cy="0"/>
        </a:xfrm>
      </p:grpSpPr>
      <p:grpSp>
        <p:nvGrpSpPr>
          <p:cNvPr id="2" name="Group 2"/>
          <p:cNvGrpSpPr/>
          <p:nvPr/>
        </p:nvGrpSpPr>
        <p:grpSpPr>
          <a:xfrm>
            <a:off x="734471" y="1827138"/>
            <a:ext cx="15972381" cy="9229973"/>
            <a:chOff x="0" y="0"/>
            <a:chExt cx="5490351" cy="3172714"/>
          </a:xfrm>
        </p:grpSpPr>
        <p:sp>
          <p:nvSpPr>
            <p:cNvPr id="3" name="Freeform 3"/>
            <p:cNvSpPr/>
            <p:nvPr/>
          </p:nvSpPr>
          <p:spPr>
            <a:xfrm>
              <a:off x="0" y="0"/>
              <a:ext cx="5490351" cy="3172714"/>
            </a:xfrm>
            <a:custGeom>
              <a:avLst/>
              <a:gdLst/>
              <a:ahLst/>
              <a:cxnLst/>
              <a:rect l="l" t="t" r="r" b="b"/>
              <a:pathLst>
                <a:path w="5490351" h="3172714">
                  <a:moveTo>
                    <a:pt x="5365891" y="3172714"/>
                  </a:moveTo>
                  <a:lnTo>
                    <a:pt x="124460" y="3172714"/>
                  </a:lnTo>
                  <a:cubicBezTo>
                    <a:pt x="55880" y="3172714"/>
                    <a:pt x="0" y="3116834"/>
                    <a:pt x="0" y="3048254"/>
                  </a:cubicBezTo>
                  <a:lnTo>
                    <a:pt x="0" y="124460"/>
                  </a:lnTo>
                  <a:cubicBezTo>
                    <a:pt x="0" y="55880"/>
                    <a:pt x="55880" y="0"/>
                    <a:pt x="124460" y="0"/>
                  </a:cubicBezTo>
                  <a:lnTo>
                    <a:pt x="5365891" y="0"/>
                  </a:lnTo>
                  <a:cubicBezTo>
                    <a:pt x="5434471" y="0"/>
                    <a:pt x="5490351" y="55880"/>
                    <a:pt x="5490351" y="124460"/>
                  </a:cubicBezTo>
                  <a:lnTo>
                    <a:pt x="5490351" y="3048254"/>
                  </a:lnTo>
                  <a:cubicBezTo>
                    <a:pt x="5490351" y="3116834"/>
                    <a:pt x="5434471" y="3172714"/>
                    <a:pt x="5365891" y="3172714"/>
                  </a:cubicBezTo>
                  <a:close/>
                </a:path>
              </a:pathLst>
            </a:custGeom>
            <a:solidFill>
              <a:srgbClr val="F89D2F"/>
            </a:solidFill>
          </p:spPr>
        </p:sp>
      </p:grpSp>
      <p:grpSp>
        <p:nvGrpSpPr>
          <p:cNvPr id="4" name="Group 4"/>
          <p:cNvGrpSpPr/>
          <p:nvPr/>
        </p:nvGrpSpPr>
        <p:grpSpPr>
          <a:xfrm rot="-10800000">
            <a:off x="1433554" y="1123950"/>
            <a:ext cx="5939862" cy="929058"/>
            <a:chOff x="0" y="0"/>
            <a:chExt cx="38779425" cy="6065520"/>
          </a:xfrm>
        </p:grpSpPr>
        <p:sp>
          <p:nvSpPr>
            <p:cNvPr id="5" name="Freeform 5"/>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89D2F"/>
            </a:solidFill>
          </p:spPr>
        </p:sp>
      </p:grpSp>
      <p:grpSp>
        <p:nvGrpSpPr>
          <p:cNvPr id="6" name="Group 6"/>
          <p:cNvGrpSpPr/>
          <p:nvPr/>
        </p:nvGrpSpPr>
        <p:grpSpPr>
          <a:xfrm>
            <a:off x="1703426" y="1588479"/>
            <a:ext cx="15555874" cy="9381757"/>
            <a:chOff x="0" y="0"/>
            <a:chExt cx="20741165" cy="12509009"/>
          </a:xfrm>
        </p:grpSpPr>
        <p:grpSp>
          <p:nvGrpSpPr>
            <p:cNvPr id="7" name="Group 7"/>
            <p:cNvGrpSpPr/>
            <p:nvPr/>
          </p:nvGrpSpPr>
          <p:grpSpPr>
            <a:xfrm>
              <a:off x="0" y="1142541"/>
              <a:ext cx="20741165" cy="11366468"/>
              <a:chOff x="0" y="0"/>
              <a:chExt cx="5490351" cy="3008794"/>
            </a:xfrm>
          </p:grpSpPr>
          <p:sp>
            <p:nvSpPr>
              <p:cNvPr id="8" name="Freeform 8"/>
              <p:cNvSpPr/>
              <p:nvPr/>
            </p:nvSpPr>
            <p:spPr>
              <a:xfrm>
                <a:off x="0" y="0"/>
                <a:ext cx="5490351" cy="3008794"/>
              </a:xfrm>
              <a:custGeom>
                <a:avLst/>
                <a:gdLst/>
                <a:ahLst/>
                <a:cxnLst/>
                <a:rect l="l" t="t" r="r" b="b"/>
                <a:pathLst>
                  <a:path w="5490351" h="3008794">
                    <a:moveTo>
                      <a:pt x="5365891" y="3008794"/>
                    </a:moveTo>
                    <a:lnTo>
                      <a:pt x="124460" y="3008794"/>
                    </a:lnTo>
                    <a:cubicBezTo>
                      <a:pt x="55880" y="3008794"/>
                      <a:pt x="0" y="2952914"/>
                      <a:pt x="0" y="2884334"/>
                    </a:cubicBezTo>
                    <a:lnTo>
                      <a:pt x="0" y="124460"/>
                    </a:lnTo>
                    <a:cubicBezTo>
                      <a:pt x="0" y="55880"/>
                      <a:pt x="55880" y="0"/>
                      <a:pt x="124460" y="0"/>
                    </a:cubicBezTo>
                    <a:lnTo>
                      <a:pt x="5365891" y="0"/>
                    </a:lnTo>
                    <a:cubicBezTo>
                      <a:pt x="5434471" y="0"/>
                      <a:pt x="5490351" y="55880"/>
                      <a:pt x="5490351" y="124460"/>
                    </a:cubicBezTo>
                    <a:lnTo>
                      <a:pt x="5490351" y="2884334"/>
                    </a:lnTo>
                    <a:cubicBezTo>
                      <a:pt x="5490351" y="2952914"/>
                      <a:pt x="5434471" y="3008794"/>
                      <a:pt x="5365891" y="3008794"/>
                    </a:cubicBezTo>
                    <a:close/>
                  </a:path>
                </a:pathLst>
              </a:custGeom>
              <a:solidFill>
                <a:srgbClr val="D25525"/>
              </a:solidFill>
            </p:spPr>
          </p:sp>
        </p:grpSp>
        <p:grpSp>
          <p:nvGrpSpPr>
            <p:cNvPr id="9" name="Group 9"/>
            <p:cNvGrpSpPr/>
            <p:nvPr/>
          </p:nvGrpSpPr>
          <p:grpSpPr>
            <a:xfrm rot="-10800000">
              <a:off x="10688424" y="0"/>
              <a:ext cx="8880221" cy="1388962"/>
              <a:chOff x="0" y="0"/>
              <a:chExt cx="38779425" cy="6065520"/>
            </a:xfrm>
          </p:grpSpPr>
          <p:sp>
            <p:nvSpPr>
              <p:cNvPr id="10" name="Freeform 10"/>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D25525"/>
              </a:solidFill>
            </p:spPr>
          </p:sp>
        </p:grpSp>
      </p:gr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332594">
            <a:off x="-652782" y="6959519"/>
            <a:ext cx="3362963" cy="3186408"/>
          </a:xfrm>
          <a:prstGeom prst="rect">
            <a:avLst/>
          </a:prstGeom>
        </p:spPr>
      </p:pic>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817225">
            <a:off x="17641458" y="-900782"/>
            <a:ext cx="508987" cy="7998371"/>
          </a:xfrm>
          <a:prstGeom prst="rect">
            <a:avLst/>
          </a:prstGeom>
        </p:spPr>
      </p:pic>
      <p:pic>
        <p:nvPicPr>
          <p:cNvPr id="13" name="Picture 13"/>
          <p:cNvPicPr>
            <a:picLocks noChangeAspect="1"/>
          </p:cNvPicPr>
          <p:nvPr/>
        </p:nvPicPr>
        <p:blipFill>
          <a:blip r:embed="rId6"/>
          <a:srcRect/>
          <a:stretch>
            <a:fillRect/>
          </a:stretch>
        </p:blipFill>
        <p:spPr>
          <a:xfrm>
            <a:off x="6036331" y="5436461"/>
            <a:ext cx="6215338" cy="4584821"/>
          </a:xfrm>
          <a:prstGeom prst="rect">
            <a:avLst/>
          </a:prstGeom>
        </p:spPr>
      </p:pic>
      <p:sp>
        <p:nvSpPr>
          <p:cNvPr id="14" name="TextBox 14"/>
          <p:cNvSpPr txBox="1"/>
          <p:nvPr/>
        </p:nvSpPr>
        <p:spPr>
          <a:xfrm>
            <a:off x="2579641" y="2748594"/>
            <a:ext cx="13803443" cy="2394906"/>
          </a:xfrm>
          <a:prstGeom prst="rect">
            <a:avLst/>
          </a:prstGeom>
        </p:spPr>
        <p:txBody>
          <a:bodyPr lIns="0" tIns="0" rIns="0" bIns="0" rtlCol="0" anchor="t">
            <a:spAutoFit/>
          </a:bodyPr>
          <a:lstStyle/>
          <a:p>
            <a:pPr algn="ctr">
              <a:lnSpc>
                <a:spcPts val="4714"/>
              </a:lnSpc>
            </a:pPr>
            <a:r>
              <a:rPr lang="en-US" sz="3928">
                <a:solidFill>
                  <a:srgbClr val="FFFBEC"/>
                </a:solidFill>
                <a:latin typeface="Roboto Mono Regular Bold"/>
              </a:rPr>
              <a:t>PETA WILAYAH INDONESIA BERDASAR DEKLARASI DJUANDA 1957.SUMBER.HTTP://KEBUDAYAAN.KEMDIKBUD.GO.ID/MUSPRES/WP-CONTNT/UPLOAS/SITES/38/2018/12/PETA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BCEBF"/>
        </a:solidFill>
        <a:effectLst/>
      </p:bgPr>
    </p:bg>
    <p:spTree>
      <p:nvGrpSpPr>
        <p:cNvPr id="1" name=""/>
        <p:cNvGrpSpPr/>
        <p:nvPr/>
      </p:nvGrpSpPr>
      <p:grpSpPr>
        <a:xfrm>
          <a:off x="0" y="0"/>
          <a:ext cx="0" cy="0"/>
          <a:chOff x="0" y="0"/>
          <a:chExt cx="0" cy="0"/>
        </a:xfrm>
      </p:grpSpPr>
      <p:sp>
        <p:nvSpPr>
          <p:cNvPr id="2" name="AutoShape 2"/>
          <p:cNvSpPr/>
          <p:nvPr/>
        </p:nvSpPr>
        <p:spPr>
          <a:xfrm>
            <a:off x="1028700" y="1704816"/>
            <a:ext cx="16230600" cy="8582184"/>
          </a:xfrm>
          <a:prstGeom prst="rect">
            <a:avLst/>
          </a:prstGeom>
          <a:solidFill>
            <a:srgbClr val="FFFBEC"/>
          </a:solidFill>
        </p:spPr>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649050">
            <a:off x="17792275" y="2044477"/>
            <a:ext cx="991450" cy="7902863"/>
          </a:xfrm>
          <a:prstGeom prst="rect">
            <a:avLst/>
          </a:prstGeom>
        </p:spPr>
      </p:pic>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7962055" y="-355200"/>
            <a:ext cx="2363891" cy="2376856"/>
          </a:xfrm>
          <a:prstGeom prst="rect">
            <a:avLst/>
          </a:prstGeom>
        </p:spPr>
      </p:pic>
      <p:sp>
        <p:nvSpPr>
          <p:cNvPr id="6" name="TextBox 6"/>
          <p:cNvSpPr txBox="1"/>
          <p:nvPr/>
        </p:nvSpPr>
        <p:spPr>
          <a:xfrm>
            <a:off x="2308459" y="3040379"/>
            <a:ext cx="13671083" cy="6217921"/>
          </a:xfrm>
          <a:prstGeom prst="rect">
            <a:avLst/>
          </a:prstGeom>
        </p:spPr>
        <p:txBody>
          <a:bodyPr lIns="0" tIns="0" rIns="0" bIns="0" rtlCol="0" anchor="t">
            <a:spAutoFit/>
          </a:bodyPr>
          <a:lstStyle/>
          <a:p>
            <a:pPr>
              <a:lnSpc>
                <a:spcPts val="5039"/>
              </a:lnSpc>
            </a:pPr>
            <a:r>
              <a:rPr lang="en-US" sz="3599">
                <a:solidFill>
                  <a:srgbClr val="000000"/>
                </a:solidFill>
                <a:latin typeface="Roboto Mono Regular Bold"/>
              </a:rPr>
              <a:t>Dewasa ini konsepsi wawasan nusantara semakin kuat setelah adanya keputusan politik negara yakni dimasukkannya ke dalam pasal 25 A UUD 1945 yang menyatakan “Negara kesatuan Republik Indonesia adalah sebuah negara kepulauan yang berciri nusantara dengan wilayah yang batas batas dan hak haknya ditetapkan dengan undang undang”.Menurut pasal tersebut, negara Indonesia dicirikan berdasar wilayahnya</a:t>
            </a:r>
          </a:p>
          <a:p>
            <a:pPr>
              <a:lnSpc>
                <a:spcPts val="4200"/>
              </a:lnSpc>
            </a:pPr>
            <a:endParaRPr lang="en-US" sz="3599">
              <a:solidFill>
                <a:srgbClr val="000000"/>
              </a:solidFill>
              <a:latin typeface="Roboto Mono Regular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9D2F"/>
        </a:solidFill>
        <a:effectLst/>
      </p:bgPr>
    </p:bg>
    <p:spTree>
      <p:nvGrpSpPr>
        <p:cNvPr id="1" name=""/>
        <p:cNvGrpSpPr/>
        <p:nvPr/>
      </p:nvGrpSpPr>
      <p:grpSpPr>
        <a:xfrm>
          <a:off x="0" y="0"/>
          <a:ext cx="0" cy="0"/>
          <a:chOff x="0" y="0"/>
          <a:chExt cx="0" cy="0"/>
        </a:xfrm>
      </p:grpSpPr>
      <p:sp>
        <p:nvSpPr>
          <p:cNvPr id="2" name="AutoShape 2"/>
          <p:cNvSpPr/>
          <p:nvPr/>
        </p:nvSpPr>
        <p:spPr>
          <a:xfrm>
            <a:off x="1028700" y="1704816"/>
            <a:ext cx="16230600" cy="8582184"/>
          </a:xfrm>
          <a:prstGeom prst="rect">
            <a:avLst/>
          </a:prstGeom>
          <a:solidFill>
            <a:srgbClr val="FFFBEC"/>
          </a:solidFill>
        </p:spPr>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649050">
            <a:off x="17792275" y="2044477"/>
            <a:ext cx="991450" cy="7902863"/>
          </a:xfrm>
          <a:prstGeom prst="rect">
            <a:avLst/>
          </a:prstGeom>
        </p:spPr>
      </p:pic>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7962055" y="-355200"/>
            <a:ext cx="2363891" cy="2376856"/>
          </a:xfrm>
          <a:prstGeom prst="rect">
            <a:avLst/>
          </a:prstGeom>
        </p:spPr>
      </p:pic>
      <p:sp>
        <p:nvSpPr>
          <p:cNvPr id="6" name="TextBox 6"/>
          <p:cNvSpPr txBox="1"/>
          <p:nvPr/>
        </p:nvSpPr>
        <p:spPr>
          <a:xfrm>
            <a:off x="2308459" y="2487320"/>
            <a:ext cx="13671083" cy="7591822"/>
          </a:xfrm>
          <a:prstGeom prst="rect">
            <a:avLst/>
          </a:prstGeom>
        </p:spPr>
        <p:txBody>
          <a:bodyPr lIns="0" tIns="0" rIns="0" bIns="0" rtlCol="0" anchor="t">
            <a:spAutoFit/>
          </a:bodyPr>
          <a:lstStyle/>
          <a:p>
            <a:pPr>
              <a:lnSpc>
                <a:spcPts val="5039"/>
              </a:lnSpc>
            </a:pPr>
            <a:r>
              <a:rPr lang="en-US" sz="3599" dirty="0" err="1">
                <a:solidFill>
                  <a:srgbClr val="000000"/>
                </a:solidFill>
                <a:latin typeface="Roboto Mono Regular Bold"/>
              </a:rPr>
              <a:t>Guna</a:t>
            </a:r>
            <a:r>
              <a:rPr lang="en-US" sz="3599" dirty="0">
                <a:solidFill>
                  <a:srgbClr val="000000"/>
                </a:solidFill>
                <a:latin typeface="Roboto Mono Regular Bold"/>
              </a:rPr>
              <a:t> </a:t>
            </a:r>
            <a:r>
              <a:rPr lang="en-US" sz="3599" dirty="0" err="1">
                <a:solidFill>
                  <a:srgbClr val="000000"/>
                </a:solidFill>
                <a:latin typeface="Roboto Mono Regular Bold"/>
              </a:rPr>
              <a:t>memperkuat</a:t>
            </a:r>
            <a:r>
              <a:rPr lang="en-US" sz="3599" dirty="0">
                <a:solidFill>
                  <a:srgbClr val="000000"/>
                </a:solidFill>
                <a:latin typeface="Roboto Mono Regular Bold"/>
              </a:rPr>
              <a:t> </a:t>
            </a:r>
            <a:r>
              <a:rPr lang="en-US" sz="3599" dirty="0" err="1">
                <a:solidFill>
                  <a:srgbClr val="000000"/>
                </a:solidFill>
                <a:latin typeface="Roboto Mono Regular Bold"/>
              </a:rPr>
              <a:t>kedaulatan</a:t>
            </a:r>
            <a:r>
              <a:rPr lang="en-US" sz="3599" dirty="0">
                <a:solidFill>
                  <a:srgbClr val="000000"/>
                </a:solidFill>
                <a:latin typeface="Roboto Mono Regular Bold"/>
              </a:rPr>
              <a:t> </a:t>
            </a:r>
            <a:r>
              <a:rPr lang="en-US" sz="3599" dirty="0" err="1">
                <a:solidFill>
                  <a:srgbClr val="000000"/>
                </a:solidFill>
                <a:latin typeface="Roboto Mono Regular Bold"/>
              </a:rPr>
              <a:t>atas</a:t>
            </a:r>
            <a:r>
              <a:rPr lang="en-US" sz="3599" dirty="0">
                <a:solidFill>
                  <a:srgbClr val="000000"/>
                </a:solidFill>
                <a:latin typeface="Roboto Mono Regular Bold"/>
              </a:rPr>
              <a:t> </a:t>
            </a:r>
            <a:r>
              <a:rPr lang="en-US" sz="3599" dirty="0" err="1">
                <a:solidFill>
                  <a:srgbClr val="000000"/>
                </a:solidFill>
                <a:latin typeface="Roboto Mono Regular Bold"/>
              </a:rPr>
              <a:t>wilayah</a:t>
            </a:r>
            <a:r>
              <a:rPr lang="en-US" sz="3599" dirty="0">
                <a:solidFill>
                  <a:srgbClr val="000000"/>
                </a:solidFill>
                <a:latin typeface="Roboto Mono Regular Bold"/>
              </a:rPr>
              <a:t> </a:t>
            </a:r>
            <a:r>
              <a:rPr lang="en-US" sz="3599" dirty="0" err="1">
                <a:solidFill>
                  <a:srgbClr val="000000"/>
                </a:solidFill>
                <a:latin typeface="Roboto Mono Regular Bold"/>
              </a:rPr>
              <a:t>negara</a:t>
            </a:r>
            <a:r>
              <a:rPr lang="en-US" sz="3599" dirty="0">
                <a:solidFill>
                  <a:srgbClr val="000000"/>
                </a:solidFill>
                <a:latin typeface="Roboto Mono Regular Bold"/>
              </a:rPr>
              <a:t> </a:t>
            </a:r>
            <a:r>
              <a:rPr lang="en-US" sz="3599" dirty="0" err="1">
                <a:solidFill>
                  <a:srgbClr val="000000"/>
                </a:solidFill>
                <a:latin typeface="Roboto Mono Regular Bold"/>
              </a:rPr>
              <a:t>tersebut</a:t>
            </a:r>
            <a:r>
              <a:rPr lang="en-US" sz="3599" dirty="0">
                <a:solidFill>
                  <a:srgbClr val="000000"/>
                </a:solidFill>
                <a:latin typeface="Roboto Mono Regular Bold"/>
              </a:rPr>
              <a:t> </a:t>
            </a:r>
            <a:r>
              <a:rPr lang="en-US" sz="3599" dirty="0" err="1">
                <a:solidFill>
                  <a:srgbClr val="000000"/>
                </a:solidFill>
                <a:latin typeface="Roboto Mono Regular Bold"/>
              </a:rPr>
              <a:t>dibentuklah</a:t>
            </a:r>
            <a:r>
              <a:rPr lang="en-US" sz="3599" dirty="0">
                <a:solidFill>
                  <a:srgbClr val="000000"/>
                </a:solidFill>
                <a:latin typeface="Roboto Mono Regular Bold"/>
              </a:rPr>
              <a:t> </a:t>
            </a:r>
            <a:r>
              <a:rPr lang="en-US" sz="3599" dirty="0" err="1">
                <a:solidFill>
                  <a:srgbClr val="000000"/>
                </a:solidFill>
                <a:latin typeface="Roboto Mono Regular Bold"/>
              </a:rPr>
              <a:t>undang</a:t>
            </a:r>
            <a:r>
              <a:rPr lang="en-US" sz="3599" dirty="0">
                <a:solidFill>
                  <a:srgbClr val="000000"/>
                </a:solidFill>
                <a:latin typeface="Roboto Mono Regular Bold"/>
              </a:rPr>
              <a:t> </a:t>
            </a:r>
            <a:r>
              <a:rPr lang="en-US" sz="3599" dirty="0" err="1">
                <a:solidFill>
                  <a:srgbClr val="000000"/>
                </a:solidFill>
                <a:latin typeface="Roboto Mono Regular Bold"/>
              </a:rPr>
              <a:t>undang</a:t>
            </a:r>
            <a:r>
              <a:rPr lang="en-US" sz="3599" dirty="0">
                <a:solidFill>
                  <a:srgbClr val="000000"/>
                </a:solidFill>
                <a:latin typeface="Roboto Mono Regular Bold"/>
              </a:rPr>
              <a:t> </a:t>
            </a:r>
            <a:r>
              <a:rPr lang="en-US" sz="3599" dirty="0" err="1">
                <a:solidFill>
                  <a:srgbClr val="000000"/>
                </a:solidFill>
                <a:latin typeface="Roboto Mono Regular Bold"/>
              </a:rPr>
              <a:t>sebagai</a:t>
            </a:r>
            <a:r>
              <a:rPr lang="en-US" sz="3599" dirty="0">
                <a:solidFill>
                  <a:srgbClr val="000000"/>
                </a:solidFill>
                <a:latin typeface="Roboto Mono Regular Bold"/>
              </a:rPr>
              <a:t> </a:t>
            </a:r>
            <a:r>
              <a:rPr lang="en-US" sz="3599" dirty="0" err="1">
                <a:solidFill>
                  <a:srgbClr val="000000"/>
                </a:solidFill>
                <a:latin typeface="Roboto Mono Regular Bold"/>
              </a:rPr>
              <a:t>penjabarannya</a:t>
            </a:r>
            <a:r>
              <a:rPr lang="en-US" sz="3599" dirty="0">
                <a:solidFill>
                  <a:srgbClr val="000000"/>
                </a:solidFill>
                <a:latin typeface="Roboto Mono Regular Bold"/>
              </a:rPr>
              <a:t>. </a:t>
            </a:r>
            <a:r>
              <a:rPr lang="en-US" sz="3599" dirty="0" err="1">
                <a:solidFill>
                  <a:srgbClr val="000000"/>
                </a:solidFill>
                <a:latin typeface="Roboto Mono Regular Bold"/>
              </a:rPr>
              <a:t>Setelah</a:t>
            </a:r>
            <a:r>
              <a:rPr lang="en-US" sz="3599" dirty="0">
                <a:solidFill>
                  <a:srgbClr val="000000"/>
                </a:solidFill>
                <a:latin typeface="Roboto Mono Regular Bold"/>
              </a:rPr>
              <a:t> </a:t>
            </a:r>
            <a:r>
              <a:rPr lang="en-US" sz="3599" dirty="0" err="1">
                <a:solidFill>
                  <a:srgbClr val="000000"/>
                </a:solidFill>
                <a:latin typeface="Roboto Mono Regular Bold"/>
              </a:rPr>
              <a:t>dikeluarkan</a:t>
            </a:r>
            <a:r>
              <a:rPr lang="en-US" sz="3599" dirty="0">
                <a:solidFill>
                  <a:srgbClr val="000000"/>
                </a:solidFill>
                <a:latin typeface="Roboto Mono Regular Bold"/>
              </a:rPr>
              <a:t> </a:t>
            </a:r>
            <a:r>
              <a:rPr lang="en-US" sz="3599" dirty="0" err="1">
                <a:solidFill>
                  <a:srgbClr val="000000"/>
                </a:solidFill>
                <a:latin typeface="Roboto Mono Regular Bold"/>
              </a:rPr>
              <a:t>Deklarasi</a:t>
            </a:r>
            <a:r>
              <a:rPr lang="en-US" sz="3599" dirty="0">
                <a:solidFill>
                  <a:srgbClr val="000000"/>
                </a:solidFill>
                <a:latin typeface="Roboto Mono Regular Bold"/>
              </a:rPr>
              <a:t> </a:t>
            </a:r>
            <a:r>
              <a:rPr lang="en-US" sz="3599" dirty="0" err="1">
                <a:solidFill>
                  <a:srgbClr val="000000"/>
                </a:solidFill>
                <a:latin typeface="Roboto Mono Regular Bold"/>
              </a:rPr>
              <a:t>Djuanda</a:t>
            </a:r>
            <a:r>
              <a:rPr lang="en-US" sz="3599" dirty="0">
                <a:solidFill>
                  <a:srgbClr val="000000"/>
                </a:solidFill>
                <a:latin typeface="Roboto Mono Regular Bold"/>
              </a:rPr>
              <a:t> tahun1957 </a:t>
            </a:r>
            <a:r>
              <a:rPr lang="en-US" sz="3599" dirty="0" err="1">
                <a:solidFill>
                  <a:srgbClr val="000000"/>
                </a:solidFill>
                <a:latin typeface="Roboto Mono Regular Bold"/>
              </a:rPr>
              <a:t>dibentuklan</a:t>
            </a:r>
            <a:r>
              <a:rPr lang="en-US" sz="3599" dirty="0">
                <a:solidFill>
                  <a:srgbClr val="000000"/>
                </a:solidFill>
                <a:latin typeface="Roboto Mono Regular Bold"/>
              </a:rPr>
              <a:t> UU No.4 </a:t>
            </a:r>
            <a:r>
              <a:rPr lang="en-US" sz="3599" dirty="0" err="1">
                <a:solidFill>
                  <a:srgbClr val="000000"/>
                </a:solidFill>
                <a:latin typeface="Roboto Mono Regular Bold"/>
              </a:rPr>
              <a:t>Prp</a:t>
            </a:r>
            <a:r>
              <a:rPr lang="en-US" sz="3599" dirty="0">
                <a:solidFill>
                  <a:srgbClr val="000000"/>
                </a:solidFill>
                <a:latin typeface="Roboto Mono Regular Bold"/>
              </a:rPr>
              <a:t> </a:t>
            </a:r>
            <a:r>
              <a:rPr lang="en-US" sz="3599" dirty="0" err="1">
                <a:solidFill>
                  <a:srgbClr val="000000"/>
                </a:solidFill>
                <a:latin typeface="Roboto Mono Regular Bold"/>
              </a:rPr>
              <a:t>tahun</a:t>
            </a:r>
            <a:r>
              <a:rPr lang="en-US" sz="3599" dirty="0">
                <a:solidFill>
                  <a:srgbClr val="000000"/>
                </a:solidFill>
                <a:latin typeface="Roboto Mono Regular Bold"/>
              </a:rPr>
              <a:t> 1960 </a:t>
            </a:r>
            <a:r>
              <a:rPr lang="en-US" sz="3599" dirty="0" err="1">
                <a:solidFill>
                  <a:srgbClr val="000000"/>
                </a:solidFill>
                <a:latin typeface="Roboto Mono Regular Bold"/>
              </a:rPr>
              <a:t>tentang</a:t>
            </a:r>
            <a:r>
              <a:rPr lang="en-US" sz="3599" dirty="0">
                <a:solidFill>
                  <a:srgbClr val="000000"/>
                </a:solidFill>
                <a:latin typeface="Roboto Mono Regular Bold"/>
              </a:rPr>
              <a:t> </a:t>
            </a:r>
            <a:r>
              <a:rPr lang="en-US" sz="3599" dirty="0" err="1">
                <a:solidFill>
                  <a:srgbClr val="000000"/>
                </a:solidFill>
                <a:latin typeface="Roboto Mono Regular Bold"/>
              </a:rPr>
              <a:t>perairan</a:t>
            </a:r>
            <a:r>
              <a:rPr lang="en-US" sz="3599" dirty="0">
                <a:solidFill>
                  <a:srgbClr val="000000"/>
                </a:solidFill>
                <a:latin typeface="Roboto Mono Regular Bold"/>
              </a:rPr>
              <a:t> Indonesia. </a:t>
            </a:r>
            <a:r>
              <a:rPr lang="en-US" sz="3599" dirty="0" err="1">
                <a:solidFill>
                  <a:srgbClr val="000000"/>
                </a:solidFill>
                <a:latin typeface="Roboto Mono Regular Bold"/>
              </a:rPr>
              <a:t>Sampai</a:t>
            </a:r>
            <a:r>
              <a:rPr lang="en-US" sz="3599" dirty="0">
                <a:solidFill>
                  <a:srgbClr val="000000"/>
                </a:solidFill>
                <a:latin typeface="Roboto Mono Regular Bold"/>
              </a:rPr>
              <a:t> </a:t>
            </a:r>
            <a:r>
              <a:rPr lang="en-US" sz="3599" dirty="0" err="1">
                <a:solidFill>
                  <a:srgbClr val="000000"/>
                </a:solidFill>
                <a:latin typeface="Roboto Mono Regular Bold"/>
              </a:rPr>
              <a:t>saat</a:t>
            </a:r>
            <a:r>
              <a:rPr lang="en-US" sz="3599" dirty="0">
                <a:solidFill>
                  <a:srgbClr val="000000"/>
                </a:solidFill>
                <a:latin typeface="Roboto Mono Regular Bold"/>
              </a:rPr>
              <a:t> </a:t>
            </a:r>
            <a:r>
              <a:rPr lang="en-US" sz="3599" dirty="0" err="1">
                <a:solidFill>
                  <a:srgbClr val="000000"/>
                </a:solidFill>
                <a:latin typeface="Roboto Mono Regular Bold"/>
              </a:rPr>
              <a:t>ini</a:t>
            </a:r>
            <a:r>
              <a:rPr lang="en-US" sz="3599" dirty="0">
                <a:solidFill>
                  <a:srgbClr val="000000"/>
                </a:solidFill>
                <a:latin typeface="Roboto Mono Regular Bold"/>
              </a:rPr>
              <a:t> </a:t>
            </a:r>
            <a:r>
              <a:rPr lang="en-US" sz="3599" dirty="0" err="1">
                <a:solidFill>
                  <a:srgbClr val="000000"/>
                </a:solidFill>
                <a:latin typeface="Roboto Mono Regular Bold"/>
              </a:rPr>
              <a:t>telah</a:t>
            </a:r>
            <a:r>
              <a:rPr lang="en-US" sz="3599" dirty="0">
                <a:solidFill>
                  <a:srgbClr val="000000"/>
                </a:solidFill>
                <a:latin typeface="Roboto Mono Regular Bold"/>
              </a:rPr>
              <a:t> </a:t>
            </a:r>
            <a:r>
              <a:rPr lang="en-US" sz="3599" dirty="0" err="1">
                <a:solidFill>
                  <a:srgbClr val="000000"/>
                </a:solidFill>
                <a:latin typeface="Roboto Mono Regular Bold"/>
              </a:rPr>
              <a:t>banyak</a:t>
            </a:r>
            <a:r>
              <a:rPr lang="en-US" sz="3599" dirty="0">
                <a:solidFill>
                  <a:srgbClr val="000000"/>
                </a:solidFill>
                <a:latin typeface="Roboto Mono Regular Bold"/>
              </a:rPr>
              <a:t> </a:t>
            </a:r>
            <a:r>
              <a:rPr lang="en-US" sz="3599" dirty="0" err="1">
                <a:solidFill>
                  <a:srgbClr val="000000"/>
                </a:solidFill>
                <a:latin typeface="Roboto Mono Regular Bold"/>
              </a:rPr>
              <a:t>peraturan</a:t>
            </a:r>
            <a:r>
              <a:rPr lang="en-US" sz="3599" dirty="0">
                <a:solidFill>
                  <a:srgbClr val="000000"/>
                </a:solidFill>
                <a:latin typeface="Roboto Mono Regular Bold"/>
              </a:rPr>
              <a:t> </a:t>
            </a:r>
            <a:r>
              <a:rPr lang="en-US" sz="3599" dirty="0" err="1">
                <a:solidFill>
                  <a:srgbClr val="000000"/>
                </a:solidFill>
                <a:latin typeface="Roboto Mono Regular Bold"/>
              </a:rPr>
              <a:t>perundangan</a:t>
            </a:r>
            <a:r>
              <a:rPr lang="en-US" sz="3599" dirty="0">
                <a:solidFill>
                  <a:srgbClr val="000000"/>
                </a:solidFill>
                <a:latin typeface="Roboto Mono Regular Bold"/>
              </a:rPr>
              <a:t> yang </a:t>
            </a:r>
            <a:r>
              <a:rPr lang="en-US" sz="3599" dirty="0" err="1">
                <a:solidFill>
                  <a:srgbClr val="000000"/>
                </a:solidFill>
                <a:latin typeface="Roboto Mono Regular Bold"/>
              </a:rPr>
              <a:t>disusun</a:t>
            </a:r>
            <a:r>
              <a:rPr lang="en-US" sz="3599" dirty="0">
                <a:solidFill>
                  <a:srgbClr val="000000"/>
                </a:solidFill>
                <a:latin typeface="Roboto Mono Regular Bold"/>
              </a:rPr>
              <a:t> </a:t>
            </a:r>
            <a:r>
              <a:rPr lang="en-US" sz="3599" dirty="0" err="1">
                <a:solidFill>
                  <a:srgbClr val="000000"/>
                </a:solidFill>
                <a:latin typeface="Roboto Mono Regular Bold"/>
              </a:rPr>
              <a:t>guna</a:t>
            </a:r>
            <a:r>
              <a:rPr lang="en-US" sz="3599" dirty="0">
                <a:solidFill>
                  <a:srgbClr val="000000"/>
                </a:solidFill>
                <a:latin typeface="Roboto Mono Regular Bold"/>
              </a:rPr>
              <a:t> </a:t>
            </a:r>
            <a:r>
              <a:rPr lang="en-US" sz="3599" dirty="0" err="1">
                <a:solidFill>
                  <a:srgbClr val="000000"/>
                </a:solidFill>
                <a:latin typeface="Roboto Mono Regular Bold"/>
              </a:rPr>
              <a:t>memperkuat</a:t>
            </a:r>
            <a:r>
              <a:rPr lang="en-US" sz="3599" dirty="0">
                <a:solidFill>
                  <a:srgbClr val="000000"/>
                </a:solidFill>
                <a:latin typeface="Roboto Mono Regular Bold"/>
              </a:rPr>
              <a:t> </a:t>
            </a:r>
            <a:r>
              <a:rPr lang="en-US" sz="3599" dirty="0" err="1">
                <a:solidFill>
                  <a:srgbClr val="000000"/>
                </a:solidFill>
                <a:latin typeface="Roboto Mono Regular Bold"/>
              </a:rPr>
              <a:t>kesatuan</a:t>
            </a:r>
            <a:r>
              <a:rPr lang="en-US" sz="3599" dirty="0">
                <a:solidFill>
                  <a:srgbClr val="000000"/>
                </a:solidFill>
                <a:latin typeface="Roboto Mono Regular Bold"/>
              </a:rPr>
              <a:t> </a:t>
            </a:r>
            <a:r>
              <a:rPr lang="en-US" sz="3599" dirty="0" err="1">
                <a:solidFill>
                  <a:srgbClr val="000000"/>
                </a:solidFill>
                <a:latin typeface="Roboto Mono Regular Bold"/>
              </a:rPr>
              <a:t>wilayah</a:t>
            </a:r>
            <a:r>
              <a:rPr lang="en-US" sz="3599" dirty="0">
                <a:solidFill>
                  <a:srgbClr val="000000"/>
                </a:solidFill>
                <a:latin typeface="Roboto Mono Regular Bold"/>
              </a:rPr>
              <a:t> Indonesia. </a:t>
            </a:r>
            <a:r>
              <a:rPr lang="en-US" sz="3599" dirty="0" err="1">
                <a:solidFill>
                  <a:srgbClr val="000000"/>
                </a:solidFill>
                <a:latin typeface="Roboto Mono Regular Bold"/>
              </a:rPr>
              <a:t>Selain</a:t>
            </a:r>
            <a:r>
              <a:rPr lang="en-US" sz="3599" dirty="0">
                <a:solidFill>
                  <a:srgbClr val="000000"/>
                </a:solidFill>
                <a:latin typeface="Roboto Mono Regular Bold"/>
              </a:rPr>
              <a:t> </a:t>
            </a:r>
            <a:r>
              <a:rPr lang="en-US" sz="3599" dirty="0" err="1">
                <a:solidFill>
                  <a:srgbClr val="000000"/>
                </a:solidFill>
                <a:latin typeface="Roboto Mono Regular Bold"/>
              </a:rPr>
              <a:t>itu</a:t>
            </a:r>
            <a:r>
              <a:rPr lang="en-US" sz="3599" dirty="0">
                <a:solidFill>
                  <a:srgbClr val="000000"/>
                </a:solidFill>
                <a:latin typeface="Roboto Mono Regular Bold"/>
              </a:rPr>
              <a:t> Indonesia </a:t>
            </a:r>
            <a:r>
              <a:rPr lang="en-US" sz="3599" dirty="0" err="1">
                <a:solidFill>
                  <a:srgbClr val="000000"/>
                </a:solidFill>
                <a:latin typeface="Roboto Mono Regular Bold"/>
              </a:rPr>
              <a:t>juga</a:t>
            </a:r>
            <a:r>
              <a:rPr lang="en-US" sz="3599" dirty="0">
                <a:solidFill>
                  <a:srgbClr val="000000"/>
                </a:solidFill>
                <a:latin typeface="Roboto Mono Regular Bold"/>
              </a:rPr>
              <a:t> </a:t>
            </a:r>
            <a:r>
              <a:rPr lang="en-US" sz="3599" dirty="0" err="1">
                <a:solidFill>
                  <a:srgbClr val="000000"/>
                </a:solidFill>
                <a:latin typeface="Roboto Mono Regular Bold"/>
              </a:rPr>
              <a:t>memperjuangkan</a:t>
            </a:r>
            <a:r>
              <a:rPr lang="en-US" sz="3599" dirty="0">
                <a:solidFill>
                  <a:srgbClr val="000000"/>
                </a:solidFill>
                <a:latin typeface="Roboto Mono Regular Bold"/>
              </a:rPr>
              <a:t> </a:t>
            </a:r>
            <a:r>
              <a:rPr lang="en-US" sz="3599" dirty="0" err="1">
                <a:solidFill>
                  <a:srgbClr val="000000"/>
                </a:solidFill>
                <a:latin typeface="Roboto Mono Regular Bold"/>
              </a:rPr>
              <a:t>konsepsi</a:t>
            </a:r>
            <a:r>
              <a:rPr lang="en-US" sz="3599" dirty="0">
                <a:solidFill>
                  <a:srgbClr val="000000"/>
                </a:solidFill>
                <a:latin typeface="Roboto Mono Regular Bold"/>
              </a:rPr>
              <a:t> </a:t>
            </a:r>
            <a:r>
              <a:rPr lang="en-US" sz="3599" dirty="0" err="1">
                <a:solidFill>
                  <a:srgbClr val="000000"/>
                </a:solidFill>
                <a:latin typeface="Roboto Mono Regular Bold"/>
              </a:rPr>
              <a:t>wawasan</a:t>
            </a:r>
            <a:r>
              <a:rPr lang="en-US" sz="3599" dirty="0">
                <a:solidFill>
                  <a:srgbClr val="000000"/>
                </a:solidFill>
                <a:latin typeface="Roboto Mono Regular Bold"/>
              </a:rPr>
              <a:t> </a:t>
            </a:r>
            <a:r>
              <a:rPr lang="en-US" sz="3599" dirty="0" err="1">
                <a:solidFill>
                  <a:srgbClr val="000000"/>
                </a:solidFill>
                <a:latin typeface="Roboto Mono Regular Bold"/>
              </a:rPr>
              <a:t>nusantara</a:t>
            </a:r>
            <a:r>
              <a:rPr lang="en-US" sz="3599" dirty="0">
                <a:solidFill>
                  <a:srgbClr val="000000"/>
                </a:solidFill>
                <a:latin typeface="Roboto Mono Regular Bold"/>
              </a:rPr>
              <a:t> </a:t>
            </a:r>
            <a:r>
              <a:rPr lang="en-US" sz="3599" dirty="0" err="1">
                <a:solidFill>
                  <a:srgbClr val="000000"/>
                </a:solidFill>
                <a:latin typeface="Roboto Mono Regular Bold"/>
              </a:rPr>
              <a:t>berdasar</a:t>
            </a:r>
            <a:r>
              <a:rPr lang="en-US" sz="3599" dirty="0">
                <a:solidFill>
                  <a:srgbClr val="000000"/>
                </a:solidFill>
                <a:latin typeface="Roboto Mono Regular Bold"/>
              </a:rPr>
              <a:t> </a:t>
            </a:r>
            <a:r>
              <a:rPr lang="en-US" sz="3599" dirty="0" err="1">
                <a:solidFill>
                  <a:srgbClr val="000000"/>
                </a:solidFill>
                <a:latin typeface="Roboto Mono Regular Bold"/>
              </a:rPr>
              <a:t>deklarasi</a:t>
            </a:r>
            <a:r>
              <a:rPr lang="en-US" sz="3599" dirty="0">
                <a:solidFill>
                  <a:srgbClr val="000000"/>
                </a:solidFill>
                <a:latin typeface="Roboto Mono Regular Bold"/>
              </a:rPr>
              <a:t> </a:t>
            </a:r>
            <a:r>
              <a:rPr lang="en-US" sz="3599" dirty="0" err="1">
                <a:solidFill>
                  <a:srgbClr val="000000"/>
                </a:solidFill>
                <a:latin typeface="Roboto Mono Regular Bold"/>
              </a:rPr>
              <a:t>Djuanda</a:t>
            </a:r>
            <a:r>
              <a:rPr lang="en-US" sz="3599" dirty="0">
                <a:solidFill>
                  <a:srgbClr val="000000"/>
                </a:solidFill>
                <a:latin typeface="Roboto Mono Regular Bold"/>
              </a:rPr>
              <a:t> </a:t>
            </a:r>
            <a:r>
              <a:rPr lang="en-US" sz="3599" dirty="0" err="1">
                <a:solidFill>
                  <a:srgbClr val="000000"/>
                </a:solidFill>
                <a:latin typeface="Roboto Mono Regular Bold"/>
              </a:rPr>
              <a:t>ke</a:t>
            </a:r>
            <a:r>
              <a:rPr lang="en-US" sz="3599" dirty="0">
                <a:solidFill>
                  <a:srgbClr val="000000"/>
                </a:solidFill>
                <a:latin typeface="Roboto Mono Regular Bold"/>
              </a:rPr>
              <a:t> </a:t>
            </a:r>
            <a:r>
              <a:rPr lang="en-US" sz="3599" dirty="0" smtClean="0">
                <a:solidFill>
                  <a:srgbClr val="000000"/>
                </a:solidFill>
                <a:latin typeface="Roboto Mono Regular Bold"/>
              </a:rPr>
              <a:t>forum </a:t>
            </a:r>
            <a:r>
              <a:rPr lang="en-US" sz="3599" dirty="0" err="1" smtClean="0">
                <a:solidFill>
                  <a:srgbClr val="000000"/>
                </a:solidFill>
                <a:latin typeface="Roboto Mono Regular Bold"/>
              </a:rPr>
              <a:t>Internasional</a:t>
            </a:r>
            <a:r>
              <a:rPr lang="en-US" sz="3599" dirty="0" smtClean="0">
                <a:solidFill>
                  <a:srgbClr val="000000"/>
                </a:solidFill>
                <a:latin typeface="Roboto Mono Regular Bold"/>
              </a:rPr>
              <a:t> </a:t>
            </a:r>
            <a:r>
              <a:rPr lang="en-US" sz="3599" dirty="0">
                <a:solidFill>
                  <a:srgbClr val="000000"/>
                </a:solidFill>
                <a:latin typeface="Roboto Mono Regular Bold"/>
              </a:rPr>
              <a:t>agar </a:t>
            </a:r>
            <a:r>
              <a:rPr lang="en-US" sz="3599" dirty="0" err="1">
                <a:solidFill>
                  <a:srgbClr val="000000"/>
                </a:solidFill>
                <a:latin typeface="Roboto Mono Regular Bold"/>
              </a:rPr>
              <a:t>mendapat</a:t>
            </a:r>
            <a:r>
              <a:rPr lang="en-US" sz="3599" dirty="0">
                <a:solidFill>
                  <a:srgbClr val="000000"/>
                </a:solidFill>
                <a:latin typeface="Roboto Mono Regular Bold"/>
              </a:rPr>
              <a:t> </a:t>
            </a:r>
            <a:r>
              <a:rPr lang="en-US" sz="3599" dirty="0" err="1">
                <a:solidFill>
                  <a:srgbClr val="000000"/>
                </a:solidFill>
                <a:latin typeface="Roboto Mono Regular Bold"/>
              </a:rPr>
              <a:t>pengakuan</a:t>
            </a:r>
            <a:r>
              <a:rPr lang="en-US" sz="3599" dirty="0">
                <a:solidFill>
                  <a:srgbClr val="000000"/>
                </a:solidFill>
                <a:latin typeface="Roboto Mono Regular Bold"/>
              </a:rPr>
              <a:t> </a:t>
            </a:r>
            <a:r>
              <a:rPr lang="en-US" sz="3599" dirty="0" err="1">
                <a:solidFill>
                  <a:srgbClr val="000000"/>
                </a:solidFill>
                <a:latin typeface="Roboto Mono Regular Bold"/>
              </a:rPr>
              <a:t>bangsa</a:t>
            </a:r>
            <a:r>
              <a:rPr lang="en-US" sz="3599" dirty="0">
                <a:solidFill>
                  <a:srgbClr val="000000"/>
                </a:solidFill>
                <a:latin typeface="Roboto Mono Regular Bold"/>
              </a:rPr>
              <a:t> lain </a:t>
            </a:r>
            <a:r>
              <a:rPr lang="en-US" sz="3599" dirty="0" err="1">
                <a:solidFill>
                  <a:srgbClr val="000000"/>
                </a:solidFill>
                <a:latin typeface="Roboto Mono Regular Bold"/>
              </a:rPr>
              <a:t>atau</a:t>
            </a:r>
            <a:r>
              <a:rPr lang="en-US" sz="3599" dirty="0">
                <a:solidFill>
                  <a:srgbClr val="000000"/>
                </a:solidFill>
                <a:latin typeface="Roboto Mono Regular Bold"/>
              </a:rPr>
              <a:t> </a:t>
            </a:r>
            <a:r>
              <a:rPr lang="en-US" sz="3599" dirty="0" err="1">
                <a:solidFill>
                  <a:srgbClr val="000000"/>
                </a:solidFill>
                <a:latin typeface="Roboto Mono Regular Bold"/>
              </a:rPr>
              <a:t>masyarakat</a:t>
            </a:r>
            <a:r>
              <a:rPr lang="en-US" sz="3599" dirty="0">
                <a:solidFill>
                  <a:srgbClr val="000000"/>
                </a:solidFill>
                <a:latin typeface="Roboto Mono Regular Bold"/>
              </a:rPr>
              <a:t> </a:t>
            </a:r>
            <a:r>
              <a:rPr lang="en-US" sz="3599" dirty="0" err="1">
                <a:solidFill>
                  <a:srgbClr val="000000"/>
                </a:solidFill>
                <a:latin typeface="Roboto Mono Regular Bold"/>
              </a:rPr>
              <a:t>Internasional</a:t>
            </a:r>
            <a:r>
              <a:rPr lang="en-US" sz="3599" dirty="0">
                <a:solidFill>
                  <a:srgbClr val="000000"/>
                </a:solidFill>
                <a:latin typeface="Roboto Mono Regular Bold"/>
              </a:rPr>
              <a:t>.</a:t>
            </a:r>
          </a:p>
          <a:p>
            <a:pPr>
              <a:lnSpc>
                <a:spcPts val="4200"/>
              </a:lnSpc>
            </a:pPr>
            <a:endParaRPr lang="en-US" sz="3599" dirty="0">
              <a:solidFill>
                <a:srgbClr val="000000"/>
              </a:solidFill>
              <a:latin typeface="Roboto Mono Regular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DF43"/>
        </a:solidFill>
        <a:effectLst/>
      </p:bgPr>
    </p:bg>
    <p:spTree>
      <p:nvGrpSpPr>
        <p:cNvPr id="1" name=""/>
        <p:cNvGrpSpPr/>
        <p:nvPr/>
      </p:nvGrpSpPr>
      <p:grpSpPr>
        <a:xfrm>
          <a:off x="0" y="0"/>
          <a:ext cx="0" cy="0"/>
          <a:chOff x="0" y="0"/>
          <a:chExt cx="0" cy="0"/>
        </a:xfrm>
      </p:grpSpPr>
      <p:sp>
        <p:nvSpPr>
          <p:cNvPr id="2" name="AutoShape 2"/>
          <p:cNvSpPr/>
          <p:nvPr/>
        </p:nvSpPr>
        <p:spPr>
          <a:xfrm>
            <a:off x="1028700" y="1409528"/>
            <a:ext cx="16230600" cy="8877472"/>
          </a:xfrm>
          <a:prstGeom prst="rect">
            <a:avLst/>
          </a:prstGeom>
          <a:solidFill>
            <a:srgbClr val="FFFBEC"/>
          </a:solidFill>
        </p:spPr>
      </p:sp>
      <p:sp>
        <p:nvSpPr>
          <p:cNvPr id="3" name="TextBox 3"/>
          <p:cNvSpPr txBox="1"/>
          <p:nvPr/>
        </p:nvSpPr>
        <p:spPr>
          <a:xfrm>
            <a:off x="1689456" y="3256772"/>
            <a:ext cx="14909089" cy="5701574"/>
          </a:xfrm>
          <a:prstGeom prst="rect">
            <a:avLst/>
          </a:prstGeom>
        </p:spPr>
        <p:txBody>
          <a:bodyPr lIns="0" tIns="0" rIns="0" bIns="0" rtlCol="0" anchor="t">
            <a:spAutoFit/>
          </a:bodyPr>
          <a:lstStyle/>
          <a:p>
            <a:pPr marL="686761" lvl="1" indent="-343381">
              <a:lnSpc>
                <a:spcPts val="4135"/>
              </a:lnSpc>
              <a:buFont typeface="Arial"/>
              <a:buChar char="•"/>
            </a:pPr>
            <a:r>
              <a:rPr lang="en-US" sz="3180">
                <a:solidFill>
                  <a:srgbClr val="000000"/>
                </a:solidFill>
                <a:latin typeface="Roboto Mono Regular Bold"/>
              </a:rPr>
              <a:t>Melalui perjuangan panjang, akhirnya konfrensi PBB tanggal 30 April 1982 menerima dokumen yang bernama “The United Nation Convention on the law of the sea (UNCLOS). Indonesia diakui dan diterima sebagai kelompok negara kepulauan. UNCLOS 1982 tersebut kemudian diratifikasi melalui UU No.17 tahun 1985 dan melalui ini wilayah Indonesia menjadi sangat luas yakni mencapai 5,9 Juta Km2 terdiri atas 3,2 juta km2 perairan territorial dan 2,7 Km2 perairan zona ekonomi ekslusif (ZEE). Luas perairan ini belum termasuk landas kontinen (continent shelf)</a:t>
            </a:r>
          </a:p>
          <a:p>
            <a:pPr>
              <a:lnSpc>
                <a:spcPts val="4135"/>
              </a:lnSpc>
            </a:pPr>
            <a:endParaRPr lang="en-US" sz="3180">
              <a:solidFill>
                <a:srgbClr val="000000"/>
              </a:solidFill>
              <a:latin typeface="Roboto Mono Regular Bold"/>
            </a:endParaRP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2411813" y="295288"/>
            <a:ext cx="1677300" cy="1686499"/>
          </a:xfrm>
          <a:prstGeom prst="rect">
            <a:avLst/>
          </a:prstGeom>
        </p:spPr>
      </p:pic>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4487900" y="295288"/>
            <a:ext cx="1677300" cy="16864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BEC"/>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01444">
            <a:off x="1496431" y="365323"/>
            <a:ext cx="15952951" cy="10557953"/>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a:off x="1028700" y="1028700"/>
            <a:ext cx="15348964" cy="10158223"/>
          </a:xfrm>
          <a:prstGeom prst="rect">
            <a:avLst/>
          </a:prstGeom>
        </p:spPr>
      </p:pic>
      <p:sp>
        <p:nvSpPr>
          <p:cNvPr id="4" name="TextBox 4"/>
          <p:cNvSpPr txBox="1"/>
          <p:nvPr/>
        </p:nvSpPr>
        <p:spPr>
          <a:xfrm>
            <a:off x="1791580" y="1342332"/>
            <a:ext cx="13823205" cy="2326441"/>
          </a:xfrm>
          <a:prstGeom prst="rect">
            <a:avLst/>
          </a:prstGeom>
        </p:spPr>
        <p:txBody>
          <a:bodyPr lIns="0" tIns="0" rIns="0" bIns="0" rtlCol="0" anchor="t">
            <a:spAutoFit/>
          </a:bodyPr>
          <a:lstStyle/>
          <a:p>
            <a:pPr algn="ctr">
              <a:lnSpc>
                <a:spcPts val="9121"/>
              </a:lnSpc>
            </a:pPr>
            <a:r>
              <a:rPr lang="en-US" sz="7601">
                <a:solidFill>
                  <a:srgbClr val="FFFBEC"/>
                </a:solidFill>
                <a:latin typeface="Roboto Mono Regular Bold"/>
              </a:rPr>
              <a:t> LATAR BELAKANG SOSIOLOGIS WASANTARA</a:t>
            </a:r>
          </a:p>
        </p:txBody>
      </p:sp>
      <p:sp>
        <p:nvSpPr>
          <p:cNvPr id="5" name="TextBox 5"/>
          <p:cNvSpPr txBox="1"/>
          <p:nvPr/>
        </p:nvSpPr>
        <p:spPr>
          <a:xfrm>
            <a:off x="2262324" y="4297160"/>
            <a:ext cx="12881716" cy="4314825"/>
          </a:xfrm>
          <a:prstGeom prst="rect">
            <a:avLst/>
          </a:prstGeom>
        </p:spPr>
        <p:txBody>
          <a:bodyPr lIns="0" tIns="0" rIns="0" bIns="0" rtlCol="0" anchor="t">
            <a:spAutoFit/>
          </a:bodyPr>
          <a:lstStyle/>
          <a:p>
            <a:pPr>
              <a:lnSpc>
                <a:spcPts val="4289"/>
              </a:lnSpc>
            </a:pPr>
            <a:r>
              <a:rPr lang="en-US" sz="3299">
                <a:solidFill>
                  <a:srgbClr val="472E12"/>
                </a:solidFill>
                <a:latin typeface="Roboto Mono Regular Bold"/>
              </a:rPr>
              <a:t>Konsep Wasantara dilatarbelakangi juga oleh kondisi sosiologis masyarakat Indonesia. Bangsa Indonesia itu beragam dan terpecah pecah sebelum merdeka dan bahkan mudah bertikai dan diadu domba oleh Belanda melalui politik devide et impera. Berdasar pada kondisi ini wasantara yang awalnya berpandangan akan “kesatuan atau keutuhan wilayah” diperluas lagi sebagai pandangan akan “persatuan bangsa”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DF43"/>
        </a:solidFill>
        <a:effectLst/>
      </p:bgPr>
    </p:bg>
    <p:spTree>
      <p:nvGrpSpPr>
        <p:cNvPr id="1" name=""/>
        <p:cNvGrpSpPr/>
        <p:nvPr/>
      </p:nvGrpSpPr>
      <p:grpSpPr>
        <a:xfrm>
          <a:off x="0" y="0"/>
          <a:ext cx="0" cy="0"/>
          <a:chOff x="0" y="0"/>
          <a:chExt cx="0" cy="0"/>
        </a:xfrm>
      </p:grpSpPr>
      <p:grpSp>
        <p:nvGrpSpPr>
          <p:cNvPr id="2" name="Group 2"/>
          <p:cNvGrpSpPr/>
          <p:nvPr/>
        </p:nvGrpSpPr>
        <p:grpSpPr>
          <a:xfrm>
            <a:off x="734471" y="1827138"/>
            <a:ext cx="15972381" cy="9229973"/>
            <a:chOff x="0" y="0"/>
            <a:chExt cx="5490351" cy="3172714"/>
          </a:xfrm>
        </p:grpSpPr>
        <p:sp>
          <p:nvSpPr>
            <p:cNvPr id="3" name="Freeform 3"/>
            <p:cNvSpPr/>
            <p:nvPr/>
          </p:nvSpPr>
          <p:spPr>
            <a:xfrm>
              <a:off x="0" y="0"/>
              <a:ext cx="5490351" cy="3172714"/>
            </a:xfrm>
            <a:custGeom>
              <a:avLst/>
              <a:gdLst/>
              <a:ahLst/>
              <a:cxnLst/>
              <a:rect l="l" t="t" r="r" b="b"/>
              <a:pathLst>
                <a:path w="5490351" h="3172714">
                  <a:moveTo>
                    <a:pt x="5365891" y="3172714"/>
                  </a:moveTo>
                  <a:lnTo>
                    <a:pt x="124460" y="3172714"/>
                  </a:lnTo>
                  <a:cubicBezTo>
                    <a:pt x="55880" y="3172714"/>
                    <a:pt x="0" y="3116834"/>
                    <a:pt x="0" y="3048254"/>
                  </a:cubicBezTo>
                  <a:lnTo>
                    <a:pt x="0" y="124460"/>
                  </a:lnTo>
                  <a:cubicBezTo>
                    <a:pt x="0" y="55880"/>
                    <a:pt x="55880" y="0"/>
                    <a:pt x="124460" y="0"/>
                  </a:cubicBezTo>
                  <a:lnTo>
                    <a:pt x="5365891" y="0"/>
                  </a:lnTo>
                  <a:cubicBezTo>
                    <a:pt x="5434471" y="0"/>
                    <a:pt x="5490351" y="55880"/>
                    <a:pt x="5490351" y="124460"/>
                  </a:cubicBezTo>
                  <a:lnTo>
                    <a:pt x="5490351" y="3048254"/>
                  </a:lnTo>
                  <a:cubicBezTo>
                    <a:pt x="5490351" y="3116834"/>
                    <a:pt x="5434471" y="3172714"/>
                    <a:pt x="5365891" y="3172714"/>
                  </a:cubicBezTo>
                  <a:close/>
                </a:path>
              </a:pathLst>
            </a:custGeom>
            <a:solidFill>
              <a:srgbClr val="FFFBEC"/>
            </a:solidFill>
          </p:spPr>
        </p:sp>
      </p:grpSp>
      <p:grpSp>
        <p:nvGrpSpPr>
          <p:cNvPr id="4" name="Group 4"/>
          <p:cNvGrpSpPr/>
          <p:nvPr/>
        </p:nvGrpSpPr>
        <p:grpSpPr>
          <a:xfrm rot="-10800000">
            <a:off x="1433554" y="1123950"/>
            <a:ext cx="5939862" cy="929058"/>
            <a:chOff x="0" y="0"/>
            <a:chExt cx="38779425" cy="6065520"/>
          </a:xfrm>
        </p:grpSpPr>
        <p:sp>
          <p:nvSpPr>
            <p:cNvPr id="5" name="Freeform 5"/>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FFBEC"/>
            </a:solidFill>
          </p:spPr>
        </p:sp>
      </p:grpSp>
      <p:grpSp>
        <p:nvGrpSpPr>
          <p:cNvPr id="6" name="Group 6"/>
          <p:cNvGrpSpPr/>
          <p:nvPr/>
        </p:nvGrpSpPr>
        <p:grpSpPr>
          <a:xfrm>
            <a:off x="1703426" y="1588479"/>
            <a:ext cx="15555874" cy="9381757"/>
            <a:chOff x="0" y="0"/>
            <a:chExt cx="20741165" cy="12509009"/>
          </a:xfrm>
        </p:grpSpPr>
        <p:grpSp>
          <p:nvGrpSpPr>
            <p:cNvPr id="7" name="Group 7"/>
            <p:cNvGrpSpPr/>
            <p:nvPr/>
          </p:nvGrpSpPr>
          <p:grpSpPr>
            <a:xfrm>
              <a:off x="0" y="1142541"/>
              <a:ext cx="20741165" cy="11366468"/>
              <a:chOff x="0" y="0"/>
              <a:chExt cx="5490351" cy="3008794"/>
            </a:xfrm>
          </p:grpSpPr>
          <p:sp>
            <p:nvSpPr>
              <p:cNvPr id="8" name="Freeform 8"/>
              <p:cNvSpPr/>
              <p:nvPr/>
            </p:nvSpPr>
            <p:spPr>
              <a:xfrm>
                <a:off x="0" y="0"/>
                <a:ext cx="5490351" cy="3008794"/>
              </a:xfrm>
              <a:custGeom>
                <a:avLst/>
                <a:gdLst/>
                <a:ahLst/>
                <a:cxnLst/>
                <a:rect l="l" t="t" r="r" b="b"/>
                <a:pathLst>
                  <a:path w="5490351" h="3008794">
                    <a:moveTo>
                      <a:pt x="5365891" y="3008794"/>
                    </a:moveTo>
                    <a:lnTo>
                      <a:pt x="124460" y="3008794"/>
                    </a:lnTo>
                    <a:cubicBezTo>
                      <a:pt x="55880" y="3008794"/>
                      <a:pt x="0" y="2952914"/>
                      <a:pt x="0" y="2884334"/>
                    </a:cubicBezTo>
                    <a:lnTo>
                      <a:pt x="0" y="124460"/>
                    </a:lnTo>
                    <a:cubicBezTo>
                      <a:pt x="0" y="55880"/>
                      <a:pt x="55880" y="0"/>
                      <a:pt x="124460" y="0"/>
                    </a:cubicBezTo>
                    <a:lnTo>
                      <a:pt x="5365891" y="0"/>
                    </a:lnTo>
                    <a:cubicBezTo>
                      <a:pt x="5434471" y="0"/>
                      <a:pt x="5490351" y="55880"/>
                      <a:pt x="5490351" y="124460"/>
                    </a:cubicBezTo>
                    <a:lnTo>
                      <a:pt x="5490351" y="2884334"/>
                    </a:lnTo>
                    <a:cubicBezTo>
                      <a:pt x="5490351" y="2952914"/>
                      <a:pt x="5434471" y="3008794"/>
                      <a:pt x="5365891" y="3008794"/>
                    </a:cubicBezTo>
                    <a:close/>
                  </a:path>
                </a:pathLst>
              </a:custGeom>
              <a:solidFill>
                <a:srgbClr val="8BCEBF"/>
              </a:solidFill>
            </p:spPr>
          </p:sp>
        </p:grpSp>
        <p:grpSp>
          <p:nvGrpSpPr>
            <p:cNvPr id="9" name="Group 9"/>
            <p:cNvGrpSpPr/>
            <p:nvPr/>
          </p:nvGrpSpPr>
          <p:grpSpPr>
            <a:xfrm rot="-10800000">
              <a:off x="10688424" y="0"/>
              <a:ext cx="8880221" cy="1388962"/>
              <a:chOff x="0" y="0"/>
              <a:chExt cx="38779425" cy="6065520"/>
            </a:xfrm>
          </p:grpSpPr>
          <p:sp>
            <p:nvSpPr>
              <p:cNvPr id="10" name="Freeform 10"/>
              <p:cNvSpPr/>
              <p:nvPr/>
            </p:nvSpPr>
            <p:spPr>
              <a:xfrm>
                <a:off x="-50800" y="0"/>
                <a:ext cx="38881025" cy="6066790"/>
              </a:xfrm>
              <a:custGeom>
                <a:avLst/>
                <a:gdLst/>
                <a:ahLst/>
                <a:cxnLst/>
                <a:rect l="l" t="t" r="r" b="b"/>
                <a:pathLst>
                  <a:path w="38881025" h="6066790">
                    <a:moveTo>
                      <a:pt x="1692910" y="0"/>
                    </a:moveTo>
                    <a:lnTo>
                      <a:pt x="1692910" y="6065520"/>
                    </a:lnTo>
                    <a:cubicBezTo>
                      <a:pt x="1710690" y="6066790"/>
                      <a:pt x="1728470" y="6066790"/>
                      <a:pt x="1746250" y="6066790"/>
                    </a:cubicBezTo>
                    <a:lnTo>
                      <a:pt x="37124615" y="6066790"/>
                    </a:lnTo>
                    <a:lnTo>
                      <a:pt x="37124615" y="0"/>
                    </a:lnTo>
                    <a:lnTo>
                      <a:pt x="1692910" y="0"/>
                    </a:lnTo>
                    <a:close/>
                    <a:moveTo>
                      <a:pt x="37581815" y="0"/>
                    </a:moveTo>
                    <a:lnTo>
                      <a:pt x="37124615" y="0"/>
                    </a:lnTo>
                    <a:lnTo>
                      <a:pt x="37124615" y="6065520"/>
                    </a:lnTo>
                    <a:lnTo>
                      <a:pt x="37134775" y="6065520"/>
                    </a:lnTo>
                    <a:cubicBezTo>
                      <a:pt x="37873915" y="6065520"/>
                      <a:pt x="38522886" y="5462270"/>
                      <a:pt x="38576225" y="4725670"/>
                    </a:cubicBezTo>
                    <a:lnTo>
                      <a:pt x="38826415" y="1338580"/>
                    </a:lnTo>
                    <a:cubicBezTo>
                      <a:pt x="38881025" y="603250"/>
                      <a:pt x="38320954" y="0"/>
                      <a:pt x="37581815" y="0"/>
                    </a:cubicBezTo>
                    <a:close/>
                    <a:moveTo>
                      <a:pt x="1299210" y="0"/>
                    </a:moveTo>
                    <a:cubicBezTo>
                      <a:pt x="560070" y="0"/>
                      <a:pt x="0" y="603250"/>
                      <a:pt x="54610" y="1339850"/>
                    </a:cubicBezTo>
                    <a:lnTo>
                      <a:pt x="304800" y="4726940"/>
                    </a:lnTo>
                    <a:cubicBezTo>
                      <a:pt x="358140" y="5445760"/>
                      <a:pt x="977900" y="6037580"/>
                      <a:pt x="1694180" y="6065520"/>
                    </a:cubicBezTo>
                    <a:lnTo>
                      <a:pt x="1694180" y="0"/>
                    </a:lnTo>
                    <a:lnTo>
                      <a:pt x="1299210" y="0"/>
                    </a:lnTo>
                    <a:close/>
                  </a:path>
                </a:pathLst>
              </a:custGeom>
              <a:solidFill>
                <a:srgbClr val="F89D2F"/>
              </a:solidFill>
            </p:spPr>
          </p:sp>
        </p:grpSp>
      </p:gr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1332594">
            <a:off x="-652782" y="6959519"/>
            <a:ext cx="3362963" cy="3186408"/>
          </a:xfrm>
          <a:prstGeom prst="rect">
            <a:avLst/>
          </a:prstGeom>
        </p:spPr>
      </p:pic>
      <p:sp>
        <p:nvSpPr>
          <p:cNvPr id="12" name="TextBox 12"/>
          <p:cNvSpPr txBox="1"/>
          <p:nvPr/>
        </p:nvSpPr>
        <p:spPr>
          <a:xfrm>
            <a:off x="2645822" y="3811320"/>
            <a:ext cx="13671083" cy="5194935"/>
          </a:xfrm>
          <a:prstGeom prst="rect">
            <a:avLst/>
          </a:prstGeom>
        </p:spPr>
        <p:txBody>
          <a:bodyPr lIns="0" tIns="0" rIns="0" bIns="0" rtlCol="0" anchor="t">
            <a:spAutoFit/>
          </a:bodyPr>
          <a:lstStyle/>
          <a:p>
            <a:pPr>
              <a:lnSpc>
                <a:spcPts val="4619"/>
              </a:lnSpc>
            </a:pPr>
            <a:r>
              <a:rPr lang="en-US" sz="3299">
                <a:solidFill>
                  <a:srgbClr val="000000"/>
                </a:solidFill>
                <a:latin typeface="Roboto Mono Regular Bold"/>
              </a:rPr>
              <a:t>Bangsa Indonesia tidak ingin lagi terpecah pecah dalam banyak bangsa. Untuk Mewujudkan persatuan bangsa itu dibutuhkan penguatan semangat kebangsaan secara terus menerus. Semangat kebangsaan sesungguhnya telah dirintis melalui peristiwa kebangkitan nasional 20 Mei 1908, ditegaskan dalam sumpah pemuda 28 Oktober 1924 dan berhasil diwujudkan dengan proklamasi kemerdekaan 17 Agustus 1945</a:t>
            </a:r>
          </a:p>
          <a:p>
            <a:pPr>
              <a:lnSpc>
                <a:spcPts val="4619"/>
              </a:lnSpc>
            </a:pPr>
            <a:endParaRPr lang="en-US" sz="3299">
              <a:solidFill>
                <a:srgbClr val="000000"/>
              </a:solidFill>
              <a:latin typeface="Roboto Mono Regular Bold"/>
            </a:endParaR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817225">
            <a:off x="17641458" y="-900782"/>
            <a:ext cx="508987" cy="799837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8BCEBF"/>
        </a:solidFill>
        <a:effectLst/>
      </p:bgPr>
    </p:bg>
    <p:spTree>
      <p:nvGrpSpPr>
        <p:cNvPr id="1" name=""/>
        <p:cNvGrpSpPr/>
        <p:nvPr/>
      </p:nvGrpSpPr>
      <p:grpSpPr>
        <a:xfrm>
          <a:off x="0" y="0"/>
          <a:ext cx="0" cy="0"/>
          <a:chOff x="0" y="0"/>
          <a:chExt cx="0" cy="0"/>
        </a:xfrm>
      </p:grpSpPr>
      <p:sp>
        <p:nvSpPr>
          <p:cNvPr id="2" name="AutoShape 2"/>
          <p:cNvSpPr/>
          <p:nvPr/>
        </p:nvSpPr>
        <p:spPr>
          <a:xfrm rot="-117255">
            <a:off x="1302193" y="667339"/>
            <a:ext cx="16610317" cy="10162269"/>
          </a:xfrm>
          <a:prstGeom prst="rect">
            <a:avLst/>
          </a:prstGeom>
          <a:solidFill>
            <a:srgbClr val="727272"/>
          </a:solidFill>
        </p:spPr>
      </p:sp>
      <p:sp>
        <p:nvSpPr>
          <p:cNvPr id="3" name="AutoShape 3"/>
          <p:cNvSpPr/>
          <p:nvPr/>
        </p:nvSpPr>
        <p:spPr>
          <a:xfrm>
            <a:off x="1302303" y="1028700"/>
            <a:ext cx="16230600" cy="9258300"/>
          </a:xfrm>
          <a:prstGeom prst="rect">
            <a:avLst/>
          </a:prstGeom>
          <a:solidFill>
            <a:srgbClr val="FFFBEC"/>
          </a:solidFill>
        </p:spPr>
      </p:sp>
      <p:sp>
        <p:nvSpPr>
          <p:cNvPr id="4" name="AutoShape 4"/>
          <p:cNvSpPr/>
          <p:nvPr/>
        </p:nvSpPr>
        <p:spPr>
          <a:xfrm>
            <a:off x="1302303" y="8681949"/>
            <a:ext cx="16230600" cy="0"/>
          </a:xfrm>
          <a:prstGeom prst="line">
            <a:avLst/>
          </a:prstGeom>
          <a:ln w="19050" cap="rnd">
            <a:solidFill>
              <a:srgbClr val="000000"/>
            </a:solidFill>
            <a:prstDash val="solid"/>
            <a:headEnd type="none" w="sm" len="sm"/>
            <a:tailEnd type="none" w="sm" len="sm"/>
          </a:ln>
        </p:spPr>
      </p:sp>
      <p:sp>
        <p:nvSpPr>
          <p:cNvPr id="5" name="AutoShape 5"/>
          <p:cNvSpPr/>
          <p:nvPr/>
        </p:nvSpPr>
        <p:spPr>
          <a:xfrm>
            <a:off x="1302303" y="8681949"/>
            <a:ext cx="16230600" cy="0"/>
          </a:xfrm>
          <a:prstGeom prst="line">
            <a:avLst/>
          </a:prstGeom>
          <a:ln w="19050" cap="rnd">
            <a:solidFill>
              <a:srgbClr val="000000"/>
            </a:solidFill>
            <a:prstDash val="solid"/>
            <a:headEnd type="none" w="sm" len="sm"/>
            <a:tailEnd type="none" w="sm" len="sm"/>
          </a:ln>
        </p:spPr>
      </p:sp>
      <p:sp>
        <p:nvSpPr>
          <p:cNvPr id="6" name="AutoShape 6"/>
          <p:cNvSpPr/>
          <p:nvPr/>
        </p:nvSpPr>
        <p:spPr>
          <a:xfrm>
            <a:off x="1302303" y="6349349"/>
            <a:ext cx="16230600" cy="0"/>
          </a:xfrm>
          <a:prstGeom prst="line">
            <a:avLst/>
          </a:prstGeom>
          <a:ln w="19050" cap="rnd">
            <a:solidFill>
              <a:srgbClr val="000000"/>
            </a:solidFill>
            <a:prstDash val="solid"/>
            <a:headEnd type="none" w="sm" len="sm"/>
            <a:tailEnd type="none" w="sm" len="sm"/>
          </a:ln>
        </p:spPr>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763660">
            <a:off x="1385739" y="201357"/>
            <a:ext cx="3041483" cy="2626736"/>
          </a:xfrm>
          <a:prstGeom prst="rect">
            <a:avLst/>
          </a:prstGeom>
        </p:spPr>
      </p:pic>
      <p:grpSp>
        <p:nvGrpSpPr>
          <p:cNvPr id="8" name="Group 8"/>
          <p:cNvGrpSpPr/>
          <p:nvPr/>
        </p:nvGrpSpPr>
        <p:grpSpPr>
          <a:xfrm>
            <a:off x="1302303" y="3382442"/>
            <a:ext cx="16230600" cy="175193"/>
            <a:chOff x="0" y="0"/>
            <a:chExt cx="21640800" cy="233591"/>
          </a:xfrm>
        </p:grpSpPr>
        <p:sp>
          <p:nvSpPr>
            <p:cNvPr id="9" name="AutoShape 9"/>
            <p:cNvSpPr/>
            <p:nvPr/>
          </p:nvSpPr>
          <p:spPr>
            <a:xfrm>
              <a:off x="0" y="0"/>
              <a:ext cx="21640800" cy="0"/>
            </a:xfrm>
            <a:prstGeom prst="line">
              <a:avLst/>
            </a:prstGeom>
            <a:ln w="63500" cap="rnd">
              <a:solidFill>
                <a:srgbClr val="000000"/>
              </a:solidFill>
              <a:prstDash val="solid"/>
              <a:headEnd type="none" w="sm" len="sm"/>
              <a:tailEnd type="none" w="sm" len="sm"/>
            </a:ln>
          </p:spPr>
        </p:sp>
        <p:sp>
          <p:nvSpPr>
            <p:cNvPr id="10" name="AutoShape 10"/>
            <p:cNvSpPr/>
            <p:nvPr/>
          </p:nvSpPr>
          <p:spPr>
            <a:xfrm>
              <a:off x="0" y="208191"/>
              <a:ext cx="21640800" cy="0"/>
            </a:xfrm>
            <a:prstGeom prst="line">
              <a:avLst/>
            </a:prstGeom>
            <a:ln w="25400" cap="rnd">
              <a:solidFill>
                <a:srgbClr val="000000"/>
              </a:solidFill>
              <a:prstDash val="solid"/>
              <a:headEnd type="none" w="sm" len="sm"/>
              <a:tailEnd type="none" w="sm" len="sm"/>
            </a:ln>
          </p:spPr>
        </p:sp>
      </p:grpSp>
      <p:sp>
        <p:nvSpPr>
          <p:cNvPr id="11" name="TextBox 11"/>
          <p:cNvSpPr txBox="1"/>
          <p:nvPr/>
        </p:nvSpPr>
        <p:spPr>
          <a:xfrm>
            <a:off x="2668411" y="4384494"/>
            <a:ext cx="12951179" cy="1363980"/>
          </a:xfrm>
          <a:prstGeom prst="rect">
            <a:avLst/>
          </a:prstGeom>
        </p:spPr>
        <p:txBody>
          <a:bodyPr lIns="0" tIns="0" rIns="0" bIns="0" rtlCol="0" anchor="t">
            <a:spAutoFit/>
          </a:bodyPr>
          <a:lstStyle/>
          <a:p>
            <a:pPr algn="ctr">
              <a:lnSpc>
                <a:spcPts val="10799"/>
              </a:lnSpc>
            </a:pPr>
            <a:r>
              <a:rPr lang="en-US" sz="8999">
                <a:solidFill>
                  <a:srgbClr val="000000"/>
                </a:solidFill>
                <a:latin typeface="Gagalin Bold"/>
              </a:rPr>
              <a:t>TERIMA KASIH</a:t>
            </a:r>
          </a:p>
        </p:txBody>
      </p:sp>
      <p:sp>
        <p:nvSpPr>
          <p:cNvPr id="12" name="TextBox 12"/>
          <p:cNvSpPr txBox="1"/>
          <p:nvPr/>
        </p:nvSpPr>
        <p:spPr>
          <a:xfrm>
            <a:off x="3557155" y="6872419"/>
            <a:ext cx="11173689" cy="1177441"/>
          </a:xfrm>
          <a:prstGeom prst="rect">
            <a:avLst/>
          </a:prstGeom>
        </p:spPr>
        <p:txBody>
          <a:bodyPr lIns="0" tIns="0" rIns="0" bIns="0" rtlCol="0" anchor="t">
            <a:spAutoFit/>
          </a:bodyPr>
          <a:lstStyle/>
          <a:p>
            <a:pPr algn="ctr">
              <a:lnSpc>
                <a:spcPts val="4635"/>
              </a:lnSpc>
            </a:pPr>
            <a:r>
              <a:rPr lang="en-US" sz="3862" dirty="0">
                <a:solidFill>
                  <a:srgbClr val="000000"/>
                </a:solidFill>
                <a:latin typeface="Roboto Mono Regular Bold"/>
              </a:rPr>
              <a:t>TETAP SEMANGAT</a:t>
            </a:r>
          </a:p>
          <a:p>
            <a:pPr algn="ctr">
              <a:lnSpc>
                <a:spcPts val="4635"/>
              </a:lnSpc>
            </a:pPr>
            <a:r>
              <a:rPr lang="en-US" sz="3860" dirty="0">
                <a:solidFill>
                  <a:srgbClr val="000000"/>
                </a:solidFill>
                <a:latin typeface="Roboto Mono Regular Bold" panose="020B0604020202020204" charset="0"/>
                <a:ea typeface="Roboto Mono Regular Bold" panose="020B0604020202020204" charset="0"/>
              </a:rPr>
              <a:t> TETAP JAGA KESEHATAN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1274</Words>
  <Application>Microsoft Office PowerPoint</Application>
  <PresentationFormat>Custom</PresentationFormat>
  <Paragraphs>41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Gagalin Bold</vt:lpstr>
      <vt:lpstr>Montserrat Classic Bold</vt:lpstr>
      <vt:lpstr>Roboto Mono Regular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WAWASAN NUSANTARA</dc:title>
  <dc:creator>ASUS</dc:creator>
  <cp:lastModifiedBy>ASUS</cp:lastModifiedBy>
  <cp:revision>3</cp:revision>
  <dcterms:created xsi:type="dcterms:W3CDTF">2006-08-16T00:00:00Z</dcterms:created>
  <dcterms:modified xsi:type="dcterms:W3CDTF">2022-02-09T14:01:53Z</dcterms:modified>
  <dc:identifier>DAEoBQALBmY</dc:identifier>
</cp:coreProperties>
</file>